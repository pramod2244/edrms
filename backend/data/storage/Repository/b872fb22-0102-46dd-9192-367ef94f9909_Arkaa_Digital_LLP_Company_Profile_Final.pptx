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5" r:id="rId20"/>
    <p:sldId id="277"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74"/>
  </p:normalViewPr>
  <p:slideViewPr>
    <p:cSldViewPr snapToGrid="0" snapToObjects="1">
      <p:cViewPr varScale="1">
        <p:scale>
          <a:sx n="124" d="100"/>
          <a:sy n="124" d="100"/>
        </p:scale>
        <p:origin x="640" y="1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hyperlink" Target="mailto:hey@arkaadigital.com" TargetMode="External"/><Relationship Id="rId2" Type="http://schemas.openxmlformats.org/officeDocument/2006/relationships/hyperlink" Target="http://www.arkaadigital.com/" TargetMode="Externa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8016" cy="6858000"/>
          </a:xfrm>
          <a:prstGeom prst="rect">
            <a:avLst/>
          </a:prstGeom>
          <a:solidFill>
            <a:srgbClr val="F477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0120" y="1234440"/>
            <a:ext cx="9144000" cy="731520"/>
          </a:xfrm>
          <a:prstGeom prst="rect">
            <a:avLst/>
          </a:prstGeom>
          <a:noFill/>
        </p:spPr>
        <p:txBody>
          <a:bodyPr wrap="square" lIns="0" tIns="0" rIns="0">
            <a:spAutoFit/>
          </a:bodyPr>
          <a:lstStyle/>
          <a:p>
            <a:pPr>
              <a:defRPr sz="4400" b="1">
                <a:solidFill>
                  <a:srgbClr val="F47721"/>
                </a:solidFill>
                <a:latin typeface="Aptos"/>
              </a:defRPr>
            </a:pPr>
            <a:r>
              <a:t>ARKAA</a:t>
            </a:r>
          </a:p>
        </p:txBody>
      </p:sp>
      <p:sp>
        <p:nvSpPr>
          <p:cNvPr id="4" name="TextBox 3"/>
          <p:cNvSpPr txBox="1"/>
          <p:nvPr/>
        </p:nvSpPr>
        <p:spPr>
          <a:xfrm>
            <a:off x="987552" y="1965960"/>
            <a:ext cx="9144000" cy="502920"/>
          </a:xfrm>
          <a:prstGeom prst="rect">
            <a:avLst/>
          </a:prstGeom>
          <a:noFill/>
        </p:spPr>
        <p:txBody>
          <a:bodyPr wrap="square" lIns="0" tIns="0" rIns="0">
            <a:spAutoFit/>
          </a:bodyPr>
          <a:lstStyle/>
          <a:p>
            <a:pPr>
              <a:defRPr sz="2700" b="1">
                <a:solidFill>
                  <a:srgbClr val="252525"/>
                </a:solidFill>
                <a:latin typeface="Aptos"/>
              </a:defRPr>
            </a:pPr>
            <a:r>
              <a:t>DIGITAL LLP</a:t>
            </a:r>
          </a:p>
        </p:txBody>
      </p:sp>
      <p:sp>
        <p:nvSpPr>
          <p:cNvPr id="5" name="TextBox 4"/>
          <p:cNvSpPr txBox="1"/>
          <p:nvPr/>
        </p:nvSpPr>
        <p:spPr>
          <a:xfrm>
            <a:off x="987552" y="2788920"/>
            <a:ext cx="9144000" cy="640080"/>
          </a:xfrm>
          <a:prstGeom prst="rect">
            <a:avLst/>
          </a:prstGeom>
          <a:noFill/>
        </p:spPr>
        <p:txBody>
          <a:bodyPr wrap="square" lIns="0" tIns="0" rIns="0">
            <a:spAutoFit/>
          </a:bodyPr>
          <a:lstStyle/>
          <a:p>
            <a:pPr>
              <a:defRPr sz="3100" b="1">
                <a:solidFill>
                  <a:srgbClr val="252525"/>
                </a:solidFill>
                <a:latin typeface="Aptos"/>
              </a:defRPr>
            </a:pPr>
            <a:r>
              <a:t>COMPANY PROFILE</a:t>
            </a:r>
          </a:p>
        </p:txBody>
      </p:sp>
      <p:sp>
        <p:nvSpPr>
          <p:cNvPr id="6" name="TextBox 5"/>
          <p:cNvSpPr txBox="1"/>
          <p:nvPr/>
        </p:nvSpPr>
        <p:spPr>
          <a:xfrm>
            <a:off x="1005840" y="3566160"/>
            <a:ext cx="10058400" cy="457200"/>
          </a:xfrm>
          <a:prstGeom prst="rect">
            <a:avLst/>
          </a:prstGeom>
          <a:noFill/>
        </p:spPr>
        <p:txBody>
          <a:bodyPr wrap="square" lIns="0" tIns="0" rIns="0">
            <a:spAutoFit/>
          </a:bodyPr>
          <a:lstStyle/>
          <a:p>
            <a:pPr>
              <a:defRPr sz="1800" b="0">
                <a:solidFill>
                  <a:srgbClr val="626262"/>
                </a:solidFill>
                <a:latin typeface="Aptos"/>
              </a:defRPr>
            </a:pPr>
            <a:r>
              <a:t>Smart Technology. Digital Innovation. Business Growth.</a:t>
            </a:r>
          </a:p>
        </p:txBody>
      </p:sp>
      <p:sp>
        <p:nvSpPr>
          <p:cNvPr id="7" name="TextBox 6"/>
          <p:cNvSpPr txBox="1"/>
          <p:nvPr/>
        </p:nvSpPr>
        <p:spPr>
          <a:xfrm>
            <a:off x="1005840" y="4892040"/>
            <a:ext cx="10058400" cy="365760"/>
          </a:xfrm>
          <a:prstGeom prst="rect">
            <a:avLst/>
          </a:prstGeom>
          <a:noFill/>
        </p:spPr>
        <p:txBody>
          <a:bodyPr wrap="square" lIns="0" tIns="0" rIns="0">
            <a:spAutoFit/>
          </a:bodyPr>
          <a:lstStyle/>
          <a:p>
            <a:pPr>
              <a:defRPr sz="1400" b="1">
                <a:solidFill>
                  <a:srgbClr val="F47721"/>
                </a:solidFill>
                <a:latin typeface="Aptos"/>
              </a:defRPr>
            </a:pPr>
            <a:r>
              <a:t>SOFTWARE  |  AUTOMATION  |  PRIVACY  |  SECURITY</a:t>
            </a:r>
          </a:p>
        </p:txBody>
      </p:sp>
      <p:sp>
        <p:nvSpPr>
          <p:cNvPr id="8" name="TextBox 7"/>
          <p:cNvSpPr txBox="1"/>
          <p:nvPr/>
        </p:nvSpPr>
        <p:spPr>
          <a:xfrm>
            <a:off x="1005840" y="6080760"/>
            <a:ext cx="10058400" cy="274320"/>
          </a:xfrm>
          <a:prstGeom prst="rect">
            <a:avLst/>
          </a:prstGeom>
          <a:noFill/>
        </p:spPr>
        <p:txBody>
          <a:bodyPr wrap="square" lIns="0" tIns="0" rIns="0">
            <a:spAutoFit/>
          </a:bodyPr>
          <a:lstStyle/>
          <a:p>
            <a:pPr>
              <a:defRPr sz="1100" b="0">
                <a:solidFill>
                  <a:srgbClr val="626262"/>
                </a:solidFill>
                <a:latin typeface="Aptos"/>
              </a:defRPr>
            </a:pPr>
            <a:r>
              <a:t>www.arkaadigital.com  •  hey@arkaadigital.com</a:t>
            </a:r>
          </a:p>
        </p:txBody>
      </p:sp>
      <p:pic>
        <p:nvPicPr>
          <p:cNvPr id="9" name="Arkaa Logo" descr="ArkaaLogo_trimmed.png"/>
          <p:cNvPicPr>
            <a:picLocks noChangeAspect="1"/>
          </p:cNvPicPr>
          <p:nvPr/>
        </p:nvPicPr>
        <p:blipFill>
          <a:blip r:embed="rId2"/>
          <a:stretch>
            <a:fillRect/>
          </a:stretch>
        </p:blipFill>
        <p:spPr>
          <a:xfrm>
            <a:off x="9464040" y="182880"/>
            <a:ext cx="1965960" cy="86283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8016" cy="6858000"/>
          </a:xfrm>
          <a:prstGeom prst="rect">
            <a:avLst/>
          </a:prstGeom>
          <a:solidFill>
            <a:srgbClr val="F477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11480"/>
            <a:ext cx="10881360" cy="594360"/>
          </a:xfrm>
          <a:prstGeom prst="rect">
            <a:avLst/>
          </a:prstGeom>
          <a:noFill/>
        </p:spPr>
        <p:txBody>
          <a:bodyPr wrap="square" lIns="0" tIns="0" rIns="0">
            <a:spAutoFit/>
          </a:bodyPr>
          <a:lstStyle/>
          <a:p>
            <a:pPr>
              <a:defRPr sz="2700" b="1">
                <a:solidFill>
                  <a:srgbClr val="F47721"/>
                </a:solidFill>
                <a:latin typeface="Aptos"/>
              </a:defRPr>
            </a:pPr>
            <a:r>
              <a:t>Who We Are</a:t>
            </a:r>
          </a:p>
        </p:txBody>
      </p:sp>
      <p:sp>
        <p:nvSpPr>
          <p:cNvPr id="4" name="Rectangle 3"/>
          <p:cNvSpPr/>
          <p:nvPr/>
        </p:nvSpPr>
        <p:spPr>
          <a:xfrm>
            <a:off x="685800" y="1115568"/>
            <a:ext cx="1051560" cy="41148"/>
          </a:xfrm>
          <a:prstGeom prst="rect">
            <a:avLst/>
          </a:prstGeom>
          <a:solidFill>
            <a:srgbClr val="F477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508760"/>
            <a:ext cx="10561320" cy="4526280"/>
          </a:xfrm>
          <a:prstGeom prst="rect">
            <a:avLst/>
          </a:prstGeom>
          <a:noFill/>
        </p:spPr>
        <p:txBody>
          <a:bodyPr wrap="square" lIns="0" tIns="0" rIns="0">
            <a:spAutoFit/>
          </a:bodyPr>
          <a:lstStyle/>
          <a:p>
            <a:pPr>
              <a:spcAft>
                <a:spcPts val="1000"/>
              </a:spcAft>
            </a:pPr>
            <a:r>
              <a:rPr sz="1900">
                <a:solidFill>
                  <a:srgbClr val="414141"/>
                </a:solidFill>
              </a:rPr>
              <a:t>Arkaa Digital LLP is a technology solutions and digital transformation partner helping organizations simplify operations, improve customer and employee experiences, and grow with confidence. We bring together custom software development, ERP and CRM platforms, healthcare and education systems, document management, web and mobile applications, workflow automation, cloud services, data analytics, and digital marketing.</a:t>
            </a:r>
          </a:p>
          <a:p>
            <a:pPr>
              <a:spcAft>
                <a:spcPts val="1000"/>
              </a:spcAft>
            </a:pPr>
            <a:endParaRPr sz="1900">
              <a:solidFill>
                <a:srgbClr val="414141"/>
              </a:solidFill>
            </a:endParaRPr>
          </a:p>
          <a:p>
            <a:pPr>
              <a:spcAft>
                <a:spcPts val="1000"/>
              </a:spcAft>
            </a:pPr>
            <a:r>
              <a:rPr sz="1900">
                <a:solidFill>
                  <a:srgbClr val="414141"/>
                </a:solidFill>
              </a:rPr>
              <a:t>We take a business-first approach: understanding each client’s goals and workflows, then shaping practical, scalable solutions around their needs. From planning and design to implementation, integration, and ongoing support, we focus on reliable delivery, clear communication, and responsible handling of client data.</a:t>
            </a:r>
          </a:p>
        </p:txBody>
      </p:sp>
      <p:sp>
        <p:nvSpPr>
          <p:cNvPr id="6" name="TextBox 5"/>
          <p:cNvSpPr txBox="1"/>
          <p:nvPr/>
        </p:nvSpPr>
        <p:spPr>
          <a:xfrm>
            <a:off x="777240" y="6473952"/>
            <a:ext cx="10058400" cy="182880"/>
          </a:xfrm>
          <a:prstGeom prst="rect">
            <a:avLst/>
          </a:prstGeom>
          <a:noFill/>
        </p:spPr>
        <p:txBody>
          <a:bodyPr wrap="square" lIns="0" tIns="0" rIns="0">
            <a:spAutoFit/>
          </a:bodyPr>
          <a:lstStyle/>
          <a:p>
            <a:pPr>
              <a:defRPr sz="800" b="0">
                <a:solidFill>
                  <a:srgbClr val="626262"/>
                </a:solidFill>
                <a:latin typeface="Aptos"/>
              </a:defRPr>
            </a:pPr>
            <a:r>
              <a:t>ARKAA DIGITAL LLP  •  COMPANY PROFILE</a:t>
            </a:r>
          </a:p>
        </p:txBody>
      </p:sp>
      <p:pic>
        <p:nvPicPr>
          <p:cNvPr id="7" name="Arkaa Logo" descr="ArkaaLogo_trimmed.png"/>
          <p:cNvPicPr>
            <a:picLocks noChangeAspect="1"/>
          </p:cNvPicPr>
          <p:nvPr/>
        </p:nvPicPr>
        <p:blipFill>
          <a:blip r:embed="rId2"/>
          <a:stretch>
            <a:fillRect/>
          </a:stretch>
        </p:blipFill>
        <p:spPr>
          <a:xfrm>
            <a:off x="9464040" y="182880"/>
            <a:ext cx="1965960" cy="86283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8016" cy="6858000"/>
          </a:xfrm>
          <a:prstGeom prst="rect">
            <a:avLst/>
          </a:prstGeom>
          <a:solidFill>
            <a:srgbClr val="F477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11480"/>
            <a:ext cx="10881360" cy="594360"/>
          </a:xfrm>
          <a:prstGeom prst="rect">
            <a:avLst/>
          </a:prstGeom>
          <a:noFill/>
        </p:spPr>
        <p:txBody>
          <a:bodyPr wrap="square" lIns="0" tIns="0" rIns="0">
            <a:spAutoFit/>
          </a:bodyPr>
          <a:lstStyle/>
          <a:p>
            <a:pPr>
              <a:defRPr sz="2700" b="1">
                <a:solidFill>
                  <a:srgbClr val="F47721"/>
                </a:solidFill>
                <a:latin typeface="Aptos"/>
              </a:defRPr>
            </a:pPr>
            <a:r>
              <a:t>Vision &amp; Mission</a:t>
            </a:r>
          </a:p>
        </p:txBody>
      </p:sp>
      <p:sp>
        <p:nvSpPr>
          <p:cNvPr id="4" name="Rectangle 3"/>
          <p:cNvSpPr/>
          <p:nvPr/>
        </p:nvSpPr>
        <p:spPr>
          <a:xfrm>
            <a:off x="685800" y="1115568"/>
            <a:ext cx="1051560" cy="41148"/>
          </a:xfrm>
          <a:prstGeom prst="rect">
            <a:avLst/>
          </a:prstGeom>
          <a:solidFill>
            <a:srgbClr val="F477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508760"/>
            <a:ext cx="10561320" cy="4526280"/>
          </a:xfrm>
          <a:prstGeom prst="rect">
            <a:avLst/>
          </a:prstGeom>
          <a:noFill/>
        </p:spPr>
        <p:txBody>
          <a:bodyPr wrap="square" lIns="0" tIns="0" rIns="0">
            <a:spAutoFit/>
          </a:bodyPr>
          <a:lstStyle/>
          <a:p>
            <a:pPr>
              <a:spcAft>
                <a:spcPts val="1000"/>
              </a:spcAft>
            </a:pPr>
            <a:r>
              <a:rPr sz="2000">
                <a:solidFill>
                  <a:srgbClr val="414141"/>
                </a:solidFill>
              </a:rPr>
              <a:t>OUR VISION</a:t>
            </a:r>
          </a:p>
          <a:p>
            <a:pPr>
              <a:spcAft>
                <a:spcPts val="1000"/>
              </a:spcAft>
            </a:pPr>
            <a:r>
              <a:rPr sz="2000">
                <a:solidFill>
                  <a:srgbClr val="414141"/>
                </a:solidFill>
              </a:rPr>
              <a:t>To be a trusted digital transformation partner, helping organizations innovate, operate smarter, and grow through technology that is secure, scalable, and built for real-world needs.</a:t>
            </a:r>
          </a:p>
          <a:p>
            <a:pPr>
              <a:spcAft>
                <a:spcPts val="1000"/>
              </a:spcAft>
            </a:pPr>
            <a:endParaRPr sz="2000">
              <a:solidFill>
                <a:srgbClr val="414141"/>
              </a:solidFill>
            </a:endParaRPr>
          </a:p>
          <a:p>
            <a:pPr>
              <a:spcAft>
                <a:spcPts val="1000"/>
              </a:spcAft>
            </a:pPr>
            <a:r>
              <a:rPr sz="2000">
                <a:solidFill>
                  <a:srgbClr val="414141"/>
                </a:solidFill>
              </a:rPr>
              <a:t>OUR MISSION</a:t>
            </a:r>
          </a:p>
          <a:p>
            <a:pPr>
              <a:spcAft>
                <a:spcPts val="1000"/>
              </a:spcAft>
            </a:pPr>
            <a:r>
              <a:rPr sz="2000">
                <a:solidFill>
                  <a:srgbClr val="414141"/>
                </a:solidFill>
              </a:rPr>
              <a:t>To understand our clients’ challenges and turn them into practical digital solutions through thoughtful design, reliable engineering, responsible data practices, and collaborative delivery. We aim to build lasting partnerships by creating technology that improves efficiency, strengthens experiences, and supports sustainable business growth.</a:t>
            </a:r>
          </a:p>
        </p:txBody>
      </p:sp>
      <p:sp>
        <p:nvSpPr>
          <p:cNvPr id="6" name="TextBox 5"/>
          <p:cNvSpPr txBox="1"/>
          <p:nvPr/>
        </p:nvSpPr>
        <p:spPr>
          <a:xfrm>
            <a:off x="777240" y="6473952"/>
            <a:ext cx="10058400" cy="182880"/>
          </a:xfrm>
          <a:prstGeom prst="rect">
            <a:avLst/>
          </a:prstGeom>
          <a:noFill/>
        </p:spPr>
        <p:txBody>
          <a:bodyPr wrap="square" lIns="0" tIns="0" rIns="0">
            <a:spAutoFit/>
          </a:bodyPr>
          <a:lstStyle/>
          <a:p>
            <a:pPr>
              <a:defRPr sz="800" b="0">
                <a:solidFill>
                  <a:srgbClr val="626262"/>
                </a:solidFill>
                <a:latin typeface="Aptos"/>
              </a:defRPr>
            </a:pPr>
            <a:r>
              <a:t>ARKAA DIGITAL LLP  •  COMPANY PROFILE</a:t>
            </a:r>
          </a:p>
        </p:txBody>
      </p:sp>
      <p:pic>
        <p:nvPicPr>
          <p:cNvPr id="7" name="Arkaa Logo" descr="ArkaaLogo_trimmed.png"/>
          <p:cNvPicPr>
            <a:picLocks noChangeAspect="1"/>
          </p:cNvPicPr>
          <p:nvPr/>
        </p:nvPicPr>
        <p:blipFill>
          <a:blip r:embed="rId2"/>
          <a:stretch>
            <a:fillRect/>
          </a:stretch>
        </p:blipFill>
        <p:spPr>
          <a:xfrm>
            <a:off x="9464040" y="182880"/>
            <a:ext cx="1965960" cy="86283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8016" cy="6858000"/>
          </a:xfrm>
          <a:prstGeom prst="rect">
            <a:avLst/>
          </a:prstGeom>
          <a:solidFill>
            <a:srgbClr val="F477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11480"/>
            <a:ext cx="10881360" cy="594360"/>
          </a:xfrm>
          <a:prstGeom prst="rect">
            <a:avLst/>
          </a:prstGeom>
          <a:noFill/>
        </p:spPr>
        <p:txBody>
          <a:bodyPr wrap="square" lIns="0" tIns="0" rIns="0">
            <a:spAutoFit/>
          </a:bodyPr>
          <a:lstStyle/>
          <a:p>
            <a:pPr>
              <a:defRPr sz="2700" b="1">
                <a:solidFill>
                  <a:srgbClr val="F47721"/>
                </a:solidFill>
                <a:latin typeface="Aptos"/>
              </a:defRPr>
            </a:pPr>
            <a:r>
              <a:t>Our Services</a:t>
            </a:r>
          </a:p>
        </p:txBody>
      </p:sp>
      <p:sp>
        <p:nvSpPr>
          <p:cNvPr id="4" name="Rectangle 3"/>
          <p:cNvSpPr/>
          <p:nvPr/>
        </p:nvSpPr>
        <p:spPr>
          <a:xfrm>
            <a:off x="685800" y="1115568"/>
            <a:ext cx="1051560" cy="41148"/>
          </a:xfrm>
          <a:prstGeom prst="rect">
            <a:avLst/>
          </a:prstGeom>
          <a:solidFill>
            <a:srgbClr val="F477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508760"/>
            <a:ext cx="10561320" cy="3277820"/>
          </a:xfrm>
          <a:prstGeom prst="rect">
            <a:avLst/>
          </a:prstGeom>
          <a:noFill/>
        </p:spPr>
        <p:txBody>
          <a:bodyPr wrap="square" lIns="0" tIns="0" rIns="0">
            <a:spAutoFit/>
          </a:bodyPr>
          <a:lstStyle/>
          <a:p>
            <a:pPr marL="285750" indent="-285750">
              <a:buFont typeface="Arial" panose="020B0604020202020204" pitchFamily="34" charset="0"/>
              <a:buChar char="•"/>
            </a:pPr>
            <a:r>
              <a:rPr sz="1500" dirty="0"/>
              <a:t>Custom Software &amp; Web Applications.</a:t>
            </a:r>
          </a:p>
          <a:p>
            <a:pPr marL="285750" indent="-285750">
              <a:buFont typeface="Arial" panose="020B0604020202020204" pitchFamily="34" charset="0"/>
              <a:buChar char="•"/>
            </a:pPr>
            <a:r>
              <a:rPr sz="1500" dirty="0"/>
              <a:t>Healthcare &amp; Hospital Systems.</a:t>
            </a:r>
          </a:p>
          <a:p>
            <a:pPr marL="285750" indent="-285750">
              <a:buFont typeface="Arial" panose="020B0604020202020204" pitchFamily="34" charset="0"/>
              <a:buChar char="•"/>
            </a:pPr>
            <a:r>
              <a:rPr sz="1500" dirty="0"/>
              <a:t>Document Management (DMS).</a:t>
            </a:r>
          </a:p>
          <a:p>
            <a:pPr marL="285750" indent="-285750">
              <a:buFont typeface="Arial" panose="020B0604020202020204" pitchFamily="34" charset="0"/>
              <a:buChar char="•"/>
            </a:pPr>
            <a:r>
              <a:rPr sz="1500" dirty="0"/>
              <a:t>ERP, CRM &amp; Business Platforms.</a:t>
            </a:r>
          </a:p>
          <a:p>
            <a:pPr marL="285750" indent="-285750">
              <a:buFont typeface="Arial" panose="020B0604020202020204" pitchFamily="34" charset="0"/>
              <a:buChar char="•"/>
            </a:pPr>
            <a:r>
              <a:rPr sz="1500" dirty="0"/>
              <a:t>Education &amp; Institution Systems.</a:t>
            </a:r>
          </a:p>
          <a:p>
            <a:pPr marL="285750" indent="-285750">
              <a:buFont typeface="Arial" panose="020B0604020202020204" pitchFamily="34" charset="0"/>
              <a:buChar char="•"/>
            </a:pPr>
            <a:r>
              <a:rPr sz="1500" dirty="0"/>
              <a:t>Websites &amp; E-commerce.</a:t>
            </a:r>
          </a:p>
          <a:p>
            <a:pPr marL="285750" indent="-285750">
              <a:buFont typeface="Arial" panose="020B0604020202020204" pitchFamily="34" charset="0"/>
              <a:buChar char="•"/>
            </a:pPr>
            <a:r>
              <a:rPr sz="1500" dirty="0"/>
              <a:t>Mobile Applications.</a:t>
            </a:r>
          </a:p>
          <a:p>
            <a:pPr marL="285750" indent="-285750">
              <a:buFont typeface="Arial" panose="020B0604020202020204" pitchFamily="34" charset="0"/>
              <a:buChar char="•"/>
            </a:pPr>
            <a:r>
              <a:rPr sz="1500" dirty="0"/>
              <a:t>Workflow &amp; Business Automation.</a:t>
            </a:r>
          </a:p>
          <a:p>
            <a:pPr marL="285750" indent="-285750">
              <a:buFont typeface="Arial" panose="020B0604020202020204" pitchFamily="34" charset="0"/>
              <a:buChar char="•"/>
            </a:pPr>
            <a:r>
              <a:rPr sz="1500" dirty="0"/>
              <a:t>Cloud, Hosting &amp; DevOps.</a:t>
            </a:r>
          </a:p>
          <a:p>
            <a:pPr marL="285750" indent="-285750">
              <a:buFont typeface="Arial" panose="020B0604020202020204" pitchFamily="34" charset="0"/>
              <a:buChar char="•"/>
            </a:pPr>
            <a:r>
              <a:rPr sz="1500" dirty="0"/>
              <a:t>Data Analytics &amp; Reporting.</a:t>
            </a:r>
          </a:p>
          <a:p>
            <a:pPr marL="285750" indent="-285750">
              <a:buFont typeface="Arial" panose="020B0604020202020204" pitchFamily="34" charset="0"/>
              <a:buChar char="•"/>
            </a:pPr>
            <a:r>
              <a:rPr sz="1500" dirty="0"/>
              <a:t>UI/UX Design.</a:t>
            </a:r>
          </a:p>
          <a:p>
            <a:pPr marL="285750" indent="-285750">
              <a:buFont typeface="Arial" panose="020B0604020202020204" pitchFamily="34" charset="0"/>
              <a:buChar char="•"/>
            </a:pPr>
            <a:r>
              <a:rPr sz="1500" dirty="0"/>
              <a:t>Digital Marketing &amp; SEO.</a:t>
            </a:r>
          </a:p>
          <a:p>
            <a:pPr marL="285750" indent="-285750">
              <a:buFont typeface="Arial" panose="020B0604020202020204" pitchFamily="34" charset="0"/>
              <a:buChar char="•"/>
            </a:pPr>
            <a:r>
              <a:rPr sz="1500" dirty="0"/>
              <a:t>Integration &amp; API Development.</a:t>
            </a:r>
          </a:p>
          <a:p>
            <a:pPr marL="285750" indent="-285750">
              <a:buFont typeface="Arial" panose="020B0604020202020204" pitchFamily="34" charset="0"/>
              <a:buChar char="•"/>
            </a:pPr>
            <a:r>
              <a:rPr sz="1500" dirty="0"/>
              <a:t>Maintenance &amp; Technical Support.</a:t>
            </a:r>
          </a:p>
        </p:txBody>
      </p:sp>
      <p:sp>
        <p:nvSpPr>
          <p:cNvPr id="6" name="TextBox 5"/>
          <p:cNvSpPr txBox="1"/>
          <p:nvPr/>
        </p:nvSpPr>
        <p:spPr>
          <a:xfrm>
            <a:off x="777240" y="6473952"/>
            <a:ext cx="10058400" cy="182880"/>
          </a:xfrm>
          <a:prstGeom prst="rect">
            <a:avLst/>
          </a:prstGeom>
          <a:noFill/>
        </p:spPr>
        <p:txBody>
          <a:bodyPr wrap="square" lIns="0" tIns="0" rIns="0">
            <a:spAutoFit/>
          </a:bodyPr>
          <a:lstStyle/>
          <a:p>
            <a:pPr>
              <a:defRPr sz="800" b="0">
                <a:solidFill>
                  <a:srgbClr val="626262"/>
                </a:solidFill>
                <a:latin typeface="Aptos"/>
              </a:defRPr>
            </a:pPr>
            <a:r>
              <a:t>ARKAA DIGITAL LLP  •  COMPANY PROFILE</a:t>
            </a:r>
          </a:p>
        </p:txBody>
      </p:sp>
      <p:pic>
        <p:nvPicPr>
          <p:cNvPr id="7" name="Arkaa Logo" descr="ArkaaLogo_trimmed.png"/>
          <p:cNvPicPr>
            <a:picLocks noChangeAspect="1"/>
          </p:cNvPicPr>
          <p:nvPr/>
        </p:nvPicPr>
        <p:blipFill>
          <a:blip r:embed="rId2"/>
          <a:stretch>
            <a:fillRect/>
          </a:stretch>
        </p:blipFill>
        <p:spPr>
          <a:xfrm>
            <a:off x="9464040" y="182880"/>
            <a:ext cx="1965960" cy="86283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8016" cy="6858000"/>
          </a:xfrm>
          <a:prstGeom prst="rect">
            <a:avLst/>
          </a:prstGeom>
          <a:solidFill>
            <a:srgbClr val="F477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11480"/>
            <a:ext cx="10881360" cy="594360"/>
          </a:xfrm>
          <a:prstGeom prst="rect">
            <a:avLst/>
          </a:prstGeom>
          <a:noFill/>
        </p:spPr>
        <p:txBody>
          <a:bodyPr wrap="square" lIns="0" tIns="0" rIns="0">
            <a:spAutoFit/>
          </a:bodyPr>
          <a:lstStyle/>
          <a:p>
            <a:pPr>
              <a:defRPr sz="2700" b="1">
                <a:solidFill>
                  <a:srgbClr val="F47721"/>
                </a:solidFill>
                <a:latin typeface="Aptos"/>
              </a:defRPr>
            </a:pPr>
            <a:r>
              <a:t>Custom Software &amp; Business Platforms</a:t>
            </a:r>
          </a:p>
        </p:txBody>
      </p:sp>
      <p:sp>
        <p:nvSpPr>
          <p:cNvPr id="4" name="Rectangle 3"/>
          <p:cNvSpPr/>
          <p:nvPr/>
        </p:nvSpPr>
        <p:spPr>
          <a:xfrm>
            <a:off x="685800" y="1115568"/>
            <a:ext cx="1051560" cy="41148"/>
          </a:xfrm>
          <a:prstGeom prst="rect">
            <a:avLst/>
          </a:prstGeom>
          <a:solidFill>
            <a:srgbClr val="F477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508760"/>
            <a:ext cx="10561320" cy="4526280"/>
          </a:xfrm>
          <a:prstGeom prst="rect">
            <a:avLst/>
          </a:prstGeom>
          <a:noFill/>
        </p:spPr>
        <p:txBody>
          <a:bodyPr wrap="square" lIns="0" tIns="0" rIns="0">
            <a:spAutoFit/>
          </a:bodyPr>
          <a:lstStyle/>
          <a:p>
            <a:pPr>
              <a:defRPr sz="1700" b="0">
                <a:solidFill>
                  <a:srgbClr val="252525"/>
                </a:solidFill>
                <a:latin typeface="Aptos"/>
              </a:defRPr>
            </a:pPr>
            <a:r>
              <a:t>We plan and build tailored web-based systems for business-specific workflows. Services include requirement analysis, solution architecture, database design, responsive interfaces, role-based portals, admin panels, API development, third-party integrations, testing, deployment, and enhancement. Examples include internal business tools, operational portals, booking and registration systems, service platforms, and custom workflow applications.</a:t>
            </a:r>
          </a:p>
          <a:p>
            <a:pPr>
              <a:defRPr sz="1700" b="0">
                <a:solidFill>
                  <a:srgbClr val="252525"/>
                </a:solidFill>
                <a:latin typeface="Aptos"/>
              </a:defRPr>
            </a:pPr>
            <a:endParaRPr/>
          </a:p>
          <a:p>
            <a:pPr>
              <a:defRPr sz="1700" b="0">
                <a:solidFill>
                  <a:srgbClr val="252525"/>
                </a:solidFill>
                <a:latin typeface="Aptos"/>
              </a:defRPr>
            </a:pPr>
            <a:r>
              <a:t>We help teams manage connected business processes through configurable business applications. CRM capabilities can include lead capture, customer records, follow-ups, sales pipelines, task ownership, communication history, and performance reports. ERP and operations modules may cover inventory, purchasing, finance-related workflows, HR processes, approvals, departmental operations, and management dashboards—based on agreed scope.</a:t>
            </a:r>
          </a:p>
        </p:txBody>
      </p:sp>
      <p:sp>
        <p:nvSpPr>
          <p:cNvPr id="6" name="TextBox 5"/>
          <p:cNvSpPr txBox="1"/>
          <p:nvPr/>
        </p:nvSpPr>
        <p:spPr>
          <a:xfrm>
            <a:off x="777240" y="6473952"/>
            <a:ext cx="10058400" cy="182880"/>
          </a:xfrm>
          <a:prstGeom prst="rect">
            <a:avLst/>
          </a:prstGeom>
          <a:noFill/>
        </p:spPr>
        <p:txBody>
          <a:bodyPr wrap="square" lIns="0" tIns="0" rIns="0">
            <a:spAutoFit/>
          </a:bodyPr>
          <a:lstStyle/>
          <a:p>
            <a:pPr>
              <a:defRPr sz="800" b="0">
                <a:solidFill>
                  <a:srgbClr val="626262"/>
                </a:solidFill>
                <a:latin typeface="Aptos"/>
              </a:defRPr>
            </a:pPr>
            <a:r>
              <a:t>ARKAA DIGITAL LLP  •  COMPANY PROFILE</a:t>
            </a:r>
          </a:p>
        </p:txBody>
      </p:sp>
      <p:pic>
        <p:nvPicPr>
          <p:cNvPr id="7" name="Arkaa Logo" descr="ArkaaLogo_trimmed.png"/>
          <p:cNvPicPr>
            <a:picLocks noChangeAspect="1"/>
          </p:cNvPicPr>
          <p:nvPr/>
        </p:nvPicPr>
        <p:blipFill>
          <a:blip r:embed="rId2"/>
          <a:stretch>
            <a:fillRect/>
          </a:stretch>
        </p:blipFill>
        <p:spPr>
          <a:xfrm>
            <a:off x="9464040" y="182880"/>
            <a:ext cx="1965960" cy="86283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8016" cy="6858000"/>
          </a:xfrm>
          <a:prstGeom prst="rect">
            <a:avLst/>
          </a:prstGeom>
          <a:solidFill>
            <a:srgbClr val="F477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11480"/>
            <a:ext cx="10881360" cy="594360"/>
          </a:xfrm>
          <a:prstGeom prst="rect">
            <a:avLst/>
          </a:prstGeom>
          <a:noFill/>
        </p:spPr>
        <p:txBody>
          <a:bodyPr wrap="square" lIns="0" tIns="0" rIns="0">
            <a:spAutoFit/>
          </a:bodyPr>
          <a:lstStyle/>
          <a:p>
            <a:pPr>
              <a:defRPr sz="2700" b="1">
                <a:solidFill>
                  <a:srgbClr val="F47721"/>
                </a:solidFill>
                <a:latin typeface="Aptos"/>
              </a:defRPr>
            </a:pPr>
            <a:r>
              <a:t>Document Management System</a:t>
            </a:r>
          </a:p>
        </p:txBody>
      </p:sp>
      <p:sp>
        <p:nvSpPr>
          <p:cNvPr id="4" name="Rectangle 3"/>
          <p:cNvSpPr/>
          <p:nvPr/>
        </p:nvSpPr>
        <p:spPr>
          <a:xfrm>
            <a:off x="685800" y="1115568"/>
            <a:ext cx="1051560" cy="41148"/>
          </a:xfrm>
          <a:prstGeom prst="rect">
            <a:avLst/>
          </a:prstGeom>
          <a:solidFill>
            <a:srgbClr val="F477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508760"/>
            <a:ext cx="10561320" cy="4526280"/>
          </a:xfrm>
          <a:prstGeom prst="rect">
            <a:avLst/>
          </a:prstGeom>
          <a:noFill/>
        </p:spPr>
        <p:txBody>
          <a:bodyPr wrap="square" lIns="0" tIns="0" rIns="0">
            <a:spAutoFit/>
          </a:bodyPr>
          <a:lstStyle/>
          <a:p>
            <a:pPr>
              <a:defRPr sz="1700" b="0">
                <a:solidFill>
                  <a:srgbClr val="252525"/>
                </a:solidFill>
                <a:latin typeface="Aptos"/>
              </a:defRPr>
            </a:pPr>
            <a:r>
              <a:t>A structured way to capture, organize, find, control, and retain business documents. Capabilities can include a central repository, folders and metadata, full-text or field-based search, document preview, version history, check-in/check-out, role- and department-based permissions, review and approval flows, audit history, secure sharing, retention and expiry reminders, and integrations with business systems. The design can be tailored to document volume, sensitivity, and client policy.</a:t>
            </a:r>
          </a:p>
        </p:txBody>
      </p:sp>
      <p:sp>
        <p:nvSpPr>
          <p:cNvPr id="6" name="TextBox 5"/>
          <p:cNvSpPr txBox="1"/>
          <p:nvPr/>
        </p:nvSpPr>
        <p:spPr>
          <a:xfrm>
            <a:off x="777240" y="6473952"/>
            <a:ext cx="10058400" cy="182880"/>
          </a:xfrm>
          <a:prstGeom prst="rect">
            <a:avLst/>
          </a:prstGeom>
          <a:noFill/>
        </p:spPr>
        <p:txBody>
          <a:bodyPr wrap="square" lIns="0" tIns="0" rIns="0">
            <a:spAutoFit/>
          </a:bodyPr>
          <a:lstStyle/>
          <a:p>
            <a:pPr>
              <a:defRPr sz="800" b="0">
                <a:solidFill>
                  <a:srgbClr val="626262"/>
                </a:solidFill>
                <a:latin typeface="Aptos"/>
              </a:defRPr>
            </a:pPr>
            <a:r>
              <a:t>ARKAA DIGITAL LLP  •  COMPANY PROFILE</a:t>
            </a:r>
          </a:p>
        </p:txBody>
      </p:sp>
      <p:pic>
        <p:nvPicPr>
          <p:cNvPr id="7" name="Arkaa Logo" descr="ArkaaLogo_trimmed.png"/>
          <p:cNvPicPr>
            <a:picLocks noChangeAspect="1"/>
          </p:cNvPicPr>
          <p:nvPr/>
        </p:nvPicPr>
        <p:blipFill>
          <a:blip r:embed="rId2"/>
          <a:stretch>
            <a:fillRect/>
          </a:stretch>
        </p:blipFill>
        <p:spPr>
          <a:xfrm>
            <a:off x="9464040" y="182880"/>
            <a:ext cx="1965960" cy="86283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8016" cy="6858000"/>
          </a:xfrm>
          <a:prstGeom prst="rect">
            <a:avLst/>
          </a:prstGeom>
          <a:solidFill>
            <a:srgbClr val="F477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11480"/>
            <a:ext cx="10881360" cy="594360"/>
          </a:xfrm>
          <a:prstGeom prst="rect">
            <a:avLst/>
          </a:prstGeom>
          <a:noFill/>
        </p:spPr>
        <p:txBody>
          <a:bodyPr wrap="square" lIns="0" tIns="0" rIns="0">
            <a:spAutoFit/>
          </a:bodyPr>
          <a:lstStyle/>
          <a:p>
            <a:pPr>
              <a:defRPr sz="2700" b="1">
                <a:solidFill>
                  <a:srgbClr val="F47721"/>
                </a:solidFill>
                <a:latin typeface="Aptos"/>
              </a:defRPr>
            </a:pPr>
            <a:r>
              <a:t>Healthcare &amp; Education Solutions</a:t>
            </a:r>
          </a:p>
        </p:txBody>
      </p:sp>
      <p:sp>
        <p:nvSpPr>
          <p:cNvPr id="4" name="Rectangle 3"/>
          <p:cNvSpPr/>
          <p:nvPr/>
        </p:nvSpPr>
        <p:spPr>
          <a:xfrm>
            <a:off x="685800" y="1115568"/>
            <a:ext cx="1051560" cy="41148"/>
          </a:xfrm>
          <a:prstGeom prst="rect">
            <a:avLst/>
          </a:prstGeom>
          <a:solidFill>
            <a:srgbClr val="F477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508760"/>
            <a:ext cx="10561320" cy="4526280"/>
          </a:xfrm>
          <a:prstGeom prst="rect">
            <a:avLst/>
          </a:prstGeom>
          <a:noFill/>
        </p:spPr>
        <p:txBody>
          <a:bodyPr wrap="square" lIns="0" tIns="0" rIns="0">
            <a:spAutoFit/>
          </a:bodyPr>
          <a:lstStyle/>
          <a:p>
            <a:pPr>
              <a:defRPr sz="1700" b="0">
                <a:solidFill>
                  <a:srgbClr val="252525"/>
                </a:solidFill>
                <a:latin typeface="Aptos"/>
              </a:defRPr>
            </a:pPr>
            <a:r>
              <a:t>Digital solutions for healthcare providers and hospital operations. Depending on scope, modules can include patient registration, appointments, doctor and staff workflows, electronic records, billing, laboratory and pharmacy workflows, admission and discharge processes, inventory, reports, and management dashboards. Implementations should account for the sensitivity of health-related information, access restrictions, auditability, and the client’s applicable regulatory and clinical requirements.</a:t>
            </a:r>
          </a:p>
          <a:p>
            <a:pPr>
              <a:defRPr sz="1700" b="0">
                <a:solidFill>
                  <a:srgbClr val="252525"/>
                </a:solidFill>
                <a:latin typeface="Aptos"/>
              </a:defRPr>
            </a:pPr>
            <a:endParaRPr/>
          </a:p>
          <a:p>
            <a:pPr>
              <a:defRPr sz="1700" b="0">
                <a:solidFill>
                  <a:srgbClr val="252525"/>
                </a:solidFill>
                <a:latin typeface="Aptos"/>
              </a:defRPr>
            </a:pPr>
            <a:r>
              <a:t>Platforms for schools, colleges, universities, and training organizations. Services may include online admissions, application review, student records, course and subject setup, timetable management, attendance, examinations, fee workflows, certificates, faculty administration, parent/student portals, notifications, and institutional reporting.</a:t>
            </a:r>
          </a:p>
        </p:txBody>
      </p:sp>
      <p:sp>
        <p:nvSpPr>
          <p:cNvPr id="6" name="TextBox 5"/>
          <p:cNvSpPr txBox="1"/>
          <p:nvPr/>
        </p:nvSpPr>
        <p:spPr>
          <a:xfrm>
            <a:off x="777240" y="6473952"/>
            <a:ext cx="10058400" cy="182880"/>
          </a:xfrm>
          <a:prstGeom prst="rect">
            <a:avLst/>
          </a:prstGeom>
          <a:noFill/>
        </p:spPr>
        <p:txBody>
          <a:bodyPr wrap="square" lIns="0" tIns="0" rIns="0">
            <a:spAutoFit/>
          </a:bodyPr>
          <a:lstStyle/>
          <a:p>
            <a:pPr>
              <a:defRPr sz="800" b="0">
                <a:solidFill>
                  <a:srgbClr val="626262"/>
                </a:solidFill>
                <a:latin typeface="Aptos"/>
              </a:defRPr>
            </a:pPr>
            <a:r>
              <a:t>ARKAA DIGITAL LLP  •  COMPANY PROFILE</a:t>
            </a:r>
          </a:p>
        </p:txBody>
      </p:sp>
      <p:pic>
        <p:nvPicPr>
          <p:cNvPr id="7" name="Arkaa Logo" descr="ArkaaLogo_trimmed.png"/>
          <p:cNvPicPr>
            <a:picLocks noChangeAspect="1"/>
          </p:cNvPicPr>
          <p:nvPr/>
        </p:nvPicPr>
        <p:blipFill>
          <a:blip r:embed="rId2"/>
          <a:stretch>
            <a:fillRect/>
          </a:stretch>
        </p:blipFill>
        <p:spPr>
          <a:xfrm>
            <a:off x="9464040" y="182880"/>
            <a:ext cx="1965960" cy="86283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8016" cy="6858000"/>
          </a:xfrm>
          <a:prstGeom prst="rect">
            <a:avLst/>
          </a:prstGeom>
          <a:solidFill>
            <a:srgbClr val="F477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11480"/>
            <a:ext cx="10881360" cy="594360"/>
          </a:xfrm>
          <a:prstGeom prst="rect">
            <a:avLst/>
          </a:prstGeom>
          <a:noFill/>
        </p:spPr>
        <p:txBody>
          <a:bodyPr wrap="square" lIns="0" tIns="0" rIns="0">
            <a:spAutoFit/>
          </a:bodyPr>
          <a:lstStyle/>
          <a:p>
            <a:pPr>
              <a:defRPr sz="2700" b="1">
                <a:solidFill>
                  <a:srgbClr val="F47721"/>
                </a:solidFill>
                <a:latin typeface="Aptos"/>
              </a:defRPr>
            </a:pPr>
            <a:r>
              <a:t>Web, E-commerce &amp; Mobile</a:t>
            </a:r>
          </a:p>
        </p:txBody>
      </p:sp>
      <p:sp>
        <p:nvSpPr>
          <p:cNvPr id="4" name="Rectangle 3"/>
          <p:cNvSpPr/>
          <p:nvPr/>
        </p:nvSpPr>
        <p:spPr>
          <a:xfrm>
            <a:off x="685800" y="1115568"/>
            <a:ext cx="1051560" cy="41148"/>
          </a:xfrm>
          <a:prstGeom prst="rect">
            <a:avLst/>
          </a:prstGeom>
          <a:solidFill>
            <a:srgbClr val="F477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508760"/>
            <a:ext cx="10561320" cy="4526280"/>
          </a:xfrm>
          <a:prstGeom prst="rect">
            <a:avLst/>
          </a:prstGeom>
          <a:noFill/>
        </p:spPr>
        <p:txBody>
          <a:bodyPr wrap="square" lIns="0" tIns="0" rIns="0">
            <a:spAutoFit/>
          </a:bodyPr>
          <a:lstStyle/>
          <a:p>
            <a:pPr>
              <a:defRPr sz="1700" b="0">
                <a:solidFill>
                  <a:srgbClr val="252525"/>
                </a:solidFill>
                <a:latin typeface="Aptos"/>
              </a:defRPr>
            </a:pPr>
            <a:r>
              <a:t>We design and develop responsive corporate websites, product and service websites, landing pages, event and conference websites, portals, and e-commerce experiences. Work can include information architecture, content presentation, CMS integration, forms, payment integration, accessibility-conscious design, performance optimization, analytics setup, and ongoing updates.</a:t>
            </a:r>
          </a:p>
          <a:p>
            <a:pPr>
              <a:defRPr sz="1700" b="0">
                <a:solidFill>
                  <a:srgbClr val="252525"/>
                </a:solidFill>
                <a:latin typeface="Aptos"/>
              </a:defRPr>
            </a:pPr>
            <a:endParaRPr/>
          </a:p>
          <a:p>
            <a:pPr>
              <a:defRPr sz="1700" b="0">
                <a:solidFill>
                  <a:srgbClr val="252525"/>
                </a:solidFill>
                <a:latin typeface="Aptos"/>
              </a:defRPr>
            </a:pPr>
            <a:r>
              <a:t>Mobile-friendly experiences and application development for customer, employee, and field workflows. Depending on requirements, this can include Android/iOS applications or responsive progressive web experiences, authentication, push notifications, API connectivity, offline-aware workflows, and app release support.</a:t>
            </a:r>
          </a:p>
        </p:txBody>
      </p:sp>
      <p:sp>
        <p:nvSpPr>
          <p:cNvPr id="6" name="TextBox 5"/>
          <p:cNvSpPr txBox="1"/>
          <p:nvPr/>
        </p:nvSpPr>
        <p:spPr>
          <a:xfrm>
            <a:off x="777240" y="6473952"/>
            <a:ext cx="10058400" cy="182880"/>
          </a:xfrm>
          <a:prstGeom prst="rect">
            <a:avLst/>
          </a:prstGeom>
          <a:noFill/>
        </p:spPr>
        <p:txBody>
          <a:bodyPr wrap="square" lIns="0" tIns="0" rIns="0">
            <a:spAutoFit/>
          </a:bodyPr>
          <a:lstStyle/>
          <a:p>
            <a:pPr>
              <a:defRPr sz="800" b="0">
                <a:solidFill>
                  <a:srgbClr val="626262"/>
                </a:solidFill>
                <a:latin typeface="Aptos"/>
              </a:defRPr>
            </a:pPr>
            <a:r>
              <a:t>ARKAA DIGITAL LLP  •  COMPANY PROFILE</a:t>
            </a:r>
          </a:p>
        </p:txBody>
      </p:sp>
      <p:pic>
        <p:nvPicPr>
          <p:cNvPr id="7" name="Arkaa Logo" descr="ArkaaLogo_trimmed.png"/>
          <p:cNvPicPr>
            <a:picLocks noChangeAspect="1"/>
          </p:cNvPicPr>
          <p:nvPr/>
        </p:nvPicPr>
        <p:blipFill>
          <a:blip r:embed="rId2"/>
          <a:stretch>
            <a:fillRect/>
          </a:stretch>
        </p:blipFill>
        <p:spPr>
          <a:xfrm>
            <a:off x="9464040" y="182880"/>
            <a:ext cx="1965960" cy="86283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8016" cy="6858000"/>
          </a:xfrm>
          <a:prstGeom prst="rect">
            <a:avLst/>
          </a:prstGeom>
          <a:solidFill>
            <a:srgbClr val="F477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11480"/>
            <a:ext cx="10881360" cy="594360"/>
          </a:xfrm>
          <a:prstGeom prst="rect">
            <a:avLst/>
          </a:prstGeom>
          <a:noFill/>
        </p:spPr>
        <p:txBody>
          <a:bodyPr wrap="square" lIns="0" tIns="0" rIns="0">
            <a:spAutoFit/>
          </a:bodyPr>
          <a:lstStyle/>
          <a:p>
            <a:pPr>
              <a:defRPr sz="2700" b="1">
                <a:solidFill>
                  <a:srgbClr val="F47721"/>
                </a:solidFill>
                <a:latin typeface="Aptos"/>
              </a:defRPr>
            </a:pPr>
            <a:r>
              <a:t>Automation, Cloud &amp; Integrations</a:t>
            </a:r>
          </a:p>
        </p:txBody>
      </p:sp>
      <p:sp>
        <p:nvSpPr>
          <p:cNvPr id="4" name="Rectangle 3"/>
          <p:cNvSpPr/>
          <p:nvPr/>
        </p:nvSpPr>
        <p:spPr>
          <a:xfrm>
            <a:off x="685800" y="1115568"/>
            <a:ext cx="1051560" cy="41148"/>
          </a:xfrm>
          <a:prstGeom prst="rect">
            <a:avLst/>
          </a:prstGeom>
          <a:solidFill>
            <a:srgbClr val="F477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508760"/>
            <a:ext cx="10561320" cy="4526280"/>
          </a:xfrm>
          <a:prstGeom prst="rect">
            <a:avLst/>
          </a:prstGeom>
          <a:noFill/>
        </p:spPr>
        <p:txBody>
          <a:bodyPr wrap="square" lIns="0" tIns="0" rIns="0">
            <a:spAutoFit/>
          </a:bodyPr>
          <a:lstStyle/>
          <a:p>
            <a:pPr>
              <a:defRPr sz="1700" b="0">
                <a:solidFill>
                  <a:srgbClr val="252525"/>
                </a:solidFill>
                <a:latin typeface="Aptos"/>
              </a:defRPr>
            </a:pPr>
            <a:r>
              <a:t>Reduce repetitive work and improve process visibility with digital forms, approvals, task routing, reminders, notifications, scheduled jobs, data exchange, and system integrations. We can connect existing applications through APIs and agreed integration methods, with validation, error handling, and operational logging.</a:t>
            </a:r>
          </a:p>
          <a:p>
            <a:pPr>
              <a:defRPr sz="1700" b="0">
                <a:solidFill>
                  <a:srgbClr val="252525"/>
                </a:solidFill>
                <a:latin typeface="Aptos"/>
              </a:defRPr>
            </a:pPr>
            <a:endParaRPr/>
          </a:p>
          <a:p>
            <a:pPr>
              <a:defRPr sz="1700" b="0">
                <a:solidFill>
                  <a:srgbClr val="252525"/>
                </a:solidFill>
                <a:latin typeface="Aptos"/>
              </a:defRPr>
            </a:pPr>
            <a:r>
              <a:t>Support for deploying and operating applications in suitable hosting or cloud environments. Services may include environment setup, deployment automation, configuration management, database and file-storage planning, backups, monitoring, performance tuning, migration assistance, and recovery planning. Infrastructure choices are based on workload, availability, security, budget, and client requirements.</a:t>
            </a:r>
          </a:p>
        </p:txBody>
      </p:sp>
      <p:sp>
        <p:nvSpPr>
          <p:cNvPr id="6" name="TextBox 5"/>
          <p:cNvSpPr txBox="1"/>
          <p:nvPr/>
        </p:nvSpPr>
        <p:spPr>
          <a:xfrm>
            <a:off x="777240" y="6473952"/>
            <a:ext cx="10058400" cy="182880"/>
          </a:xfrm>
          <a:prstGeom prst="rect">
            <a:avLst/>
          </a:prstGeom>
          <a:noFill/>
        </p:spPr>
        <p:txBody>
          <a:bodyPr wrap="square" lIns="0" tIns="0" rIns="0">
            <a:spAutoFit/>
          </a:bodyPr>
          <a:lstStyle/>
          <a:p>
            <a:pPr>
              <a:defRPr sz="800" b="0">
                <a:solidFill>
                  <a:srgbClr val="626262"/>
                </a:solidFill>
                <a:latin typeface="Aptos"/>
              </a:defRPr>
            </a:pPr>
            <a:r>
              <a:t>ARKAA DIGITAL LLP  •  COMPANY PROFILE</a:t>
            </a:r>
          </a:p>
        </p:txBody>
      </p:sp>
      <p:pic>
        <p:nvPicPr>
          <p:cNvPr id="7" name="Arkaa Logo" descr="ArkaaLogo_trimmed.png"/>
          <p:cNvPicPr>
            <a:picLocks noChangeAspect="1"/>
          </p:cNvPicPr>
          <p:nvPr/>
        </p:nvPicPr>
        <p:blipFill>
          <a:blip r:embed="rId2"/>
          <a:stretch>
            <a:fillRect/>
          </a:stretch>
        </p:blipFill>
        <p:spPr>
          <a:xfrm>
            <a:off x="9464040" y="182880"/>
            <a:ext cx="1965960" cy="86283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8016" cy="6858000"/>
          </a:xfrm>
          <a:prstGeom prst="rect">
            <a:avLst/>
          </a:prstGeom>
          <a:solidFill>
            <a:srgbClr val="F477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11480"/>
            <a:ext cx="10881360" cy="594360"/>
          </a:xfrm>
          <a:prstGeom prst="rect">
            <a:avLst/>
          </a:prstGeom>
          <a:noFill/>
        </p:spPr>
        <p:txBody>
          <a:bodyPr wrap="square" lIns="0" tIns="0" rIns="0">
            <a:spAutoFit/>
          </a:bodyPr>
          <a:lstStyle/>
          <a:p>
            <a:pPr>
              <a:defRPr sz="2700" b="1">
                <a:solidFill>
                  <a:srgbClr val="F47721"/>
                </a:solidFill>
                <a:latin typeface="Aptos"/>
              </a:defRPr>
            </a:pPr>
            <a:r>
              <a:t>Analytics, Design &amp; Digital Marketing</a:t>
            </a:r>
          </a:p>
        </p:txBody>
      </p:sp>
      <p:sp>
        <p:nvSpPr>
          <p:cNvPr id="4" name="Rectangle 3"/>
          <p:cNvSpPr/>
          <p:nvPr/>
        </p:nvSpPr>
        <p:spPr>
          <a:xfrm>
            <a:off x="685800" y="1115568"/>
            <a:ext cx="1051560" cy="41148"/>
          </a:xfrm>
          <a:prstGeom prst="rect">
            <a:avLst/>
          </a:prstGeom>
          <a:solidFill>
            <a:srgbClr val="F477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508760"/>
            <a:ext cx="10561320" cy="4526280"/>
          </a:xfrm>
          <a:prstGeom prst="rect">
            <a:avLst/>
          </a:prstGeom>
          <a:noFill/>
        </p:spPr>
        <p:txBody>
          <a:bodyPr wrap="square" lIns="0" tIns="0" rIns="0">
            <a:spAutoFit/>
          </a:bodyPr>
          <a:lstStyle/>
          <a:p>
            <a:pPr>
              <a:defRPr sz="1700" b="0">
                <a:solidFill>
                  <a:srgbClr val="252525"/>
                </a:solidFill>
                <a:latin typeface="Aptos"/>
              </a:defRPr>
            </a:pPr>
            <a:r>
              <a:t>Turn operational data into useful visibility through dashboards and reports. Services include KPI definition, data preparation, SQL reporting, management summaries, trend analysis, filters, exportable reports, and visualizations. Data access and reporting scope are designed around authorization and business need.</a:t>
            </a:r>
          </a:p>
          <a:p>
            <a:pPr>
              <a:defRPr sz="1700" b="0">
                <a:solidFill>
                  <a:srgbClr val="252525"/>
                </a:solidFill>
                <a:latin typeface="Aptos"/>
              </a:defRPr>
            </a:pPr>
            <a:endParaRPr/>
          </a:p>
          <a:p>
            <a:pPr>
              <a:defRPr sz="1700" b="0">
                <a:solidFill>
                  <a:srgbClr val="252525"/>
                </a:solidFill>
                <a:latin typeface="Aptos"/>
              </a:defRPr>
            </a:pPr>
            <a:r>
              <a:t>Create clear and consistent digital experiences through discovery workshops, user flows, wireframes, interface design, clickable prototypes, design systems, responsive layouts, and usability improvements. The goal is to make business applications easier to learn and use.</a:t>
            </a:r>
          </a:p>
          <a:p>
            <a:pPr>
              <a:defRPr sz="1700" b="0">
                <a:solidFill>
                  <a:srgbClr val="252525"/>
                </a:solidFill>
                <a:latin typeface="Aptos"/>
              </a:defRPr>
            </a:pPr>
            <a:endParaRPr/>
          </a:p>
          <a:p>
            <a:pPr>
              <a:defRPr sz="1700" b="0">
                <a:solidFill>
                  <a:srgbClr val="252525"/>
                </a:solidFill>
                <a:latin typeface="Aptos"/>
              </a:defRPr>
            </a:pPr>
            <a:r>
              <a:t>Support online visibility and lead generation through SEO audits, keyword and content planning, on-page optimization, technical SEO recommendations, website analytics, social media planning, campaign setup support, content coordination, and performance reporting. Deliverables and advertising spend are agreed separately.</a:t>
            </a:r>
          </a:p>
        </p:txBody>
      </p:sp>
      <p:sp>
        <p:nvSpPr>
          <p:cNvPr id="6" name="TextBox 5"/>
          <p:cNvSpPr txBox="1"/>
          <p:nvPr/>
        </p:nvSpPr>
        <p:spPr>
          <a:xfrm>
            <a:off x="777240" y="6473952"/>
            <a:ext cx="10058400" cy="182880"/>
          </a:xfrm>
          <a:prstGeom prst="rect">
            <a:avLst/>
          </a:prstGeom>
          <a:noFill/>
        </p:spPr>
        <p:txBody>
          <a:bodyPr wrap="square" lIns="0" tIns="0" rIns="0">
            <a:spAutoFit/>
          </a:bodyPr>
          <a:lstStyle/>
          <a:p>
            <a:pPr>
              <a:defRPr sz="800" b="0">
                <a:solidFill>
                  <a:srgbClr val="626262"/>
                </a:solidFill>
                <a:latin typeface="Aptos"/>
              </a:defRPr>
            </a:pPr>
            <a:r>
              <a:t>ARKAA DIGITAL LLP  •  COMPANY PROFILE</a:t>
            </a:r>
          </a:p>
        </p:txBody>
      </p:sp>
      <p:pic>
        <p:nvPicPr>
          <p:cNvPr id="7" name="Arkaa Logo" descr="ArkaaLogo_trimmed.png"/>
          <p:cNvPicPr>
            <a:picLocks noChangeAspect="1"/>
          </p:cNvPicPr>
          <p:nvPr/>
        </p:nvPicPr>
        <p:blipFill>
          <a:blip r:embed="rId2"/>
          <a:stretch>
            <a:fillRect/>
          </a:stretch>
        </p:blipFill>
        <p:spPr>
          <a:xfrm>
            <a:off x="9464040" y="182880"/>
            <a:ext cx="1965960" cy="86283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8016" cy="6858000"/>
          </a:xfrm>
          <a:prstGeom prst="rect">
            <a:avLst/>
          </a:prstGeom>
          <a:solidFill>
            <a:srgbClr val="F477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11480"/>
            <a:ext cx="10881360" cy="594360"/>
          </a:xfrm>
          <a:prstGeom prst="rect">
            <a:avLst/>
          </a:prstGeom>
          <a:noFill/>
        </p:spPr>
        <p:txBody>
          <a:bodyPr wrap="square" lIns="0" tIns="0" rIns="0">
            <a:spAutoFit/>
          </a:bodyPr>
          <a:lstStyle/>
          <a:p>
            <a:pPr>
              <a:defRPr sz="2700" b="1">
                <a:solidFill>
                  <a:srgbClr val="F47721"/>
                </a:solidFill>
                <a:latin typeface="Aptos"/>
              </a:defRPr>
            </a:pPr>
            <a:r>
              <a:t>How We Protect Client Data</a:t>
            </a:r>
          </a:p>
        </p:txBody>
      </p:sp>
      <p:sp>
        <p:nvSpPr>
          <p:cNvPr id="4" name="Rectangle 3"/>
          <p:cNvSpPr/>
          <p:nvPr/>
        </p:nvSpPr>
        <p:spPr>
          <a:xfrm>
            <a:off x="685800" y="1115568"/>
            <a:ext cx="1051560" cy="41148"/>
          </a:xfrm>
          <a:prstGeom prst="rect">
            <a:avLst/>
          </a:prstGeom>
          <a:solidFill>
            <a:srgbClr val="F477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291025"/>
            <a:ext cx="10561320" cy="4526280"/>
          </a:xfrm>
          <a:prstGeom prst="rect">
            <a:avLst/>
          </a:prstGeom>
          <a:noFill/>
        </p:spPr>
        <p:txBody>
          <a:bodyPr wrap="square" lIns="0" tIns="0" rIns="0">
            <a:spAutoFit/>
          </a:bodyPr>
          <a:lstStyle/>
          <a:p>
            <a:r>
              <a:rPr sz="1400" dirty="0"/>
              <a:t>Your Data. Your Trust. Our Responsibility.</a:t>
            </a:r>
          </a:p>
          <a:p>
            <a:endParaRPr sz="1400" dirty="0"/>
          </a:p>
          <a:p>
            <a:r>
              <a:rPr sz="1400" dirty="0"/>
              <a:t>We treat client information as confidential and apply safeguards appropriate to the project, the sensitivity of the information, the solution architecture, and the responsibilities agreed with the client. Our approach can include:</a:t>
            </a:r>
          </a:p>
          <a:p>
            <a:r>
              <a:rPr sz="1400" dirty="0"/>
              <a:t>• Controlled access: role-based permissions, least-privilege access, account lifecycle controls, and multi-factor authentication where supported.</a:t>
            </a:r>
          </a:p>
          <a:p>
            <a:r>
              <a:rPr sz="1400" dirty="0"/>
              <a:t>• Secure data handling: encryption in transit and, where supported, at rest; secure configuration; protected credentials and secrets; and separation of environments.</a:t>
            </a:r>
          </a:p>
          <a:p>
            <a:r>
              <a:rPr sz="1400" dirty="0"/>
              <a:t>• Secure application practices: input validation, authorization checks, dependency updates, code reviews, and security testing appropriate to the scope.</a:t>
            </a:r>
          </a:p>
          <a:p>
            <a:r>
              <a:rPr sz="1400" dirty="0"/>
              <a:t>• Database, API, and infrastructure safeguards: restricted connectivity, authenticated integrations, careful error handling, and protection of backups and stored files.</a:t>
            </a:r>
          </a:p>
          <a:p>
            <a:r>
              <a:rPr sz="1400" dirty="0"/>
              <a:t>• Monitoring and accountability: relevant audit logs, operational monitoring, issue escalation, and vulnerability remediation based on risk and agreed responsibilities.</a:t>
            </a:r>
          </a:p>
          <a:p>
            <a:r>
              <a:rPr sz="1400" dirty="0"/>
              <a:t>• Privacy-conscious design: data minimization, purpose-based use, retention and deletion controls, and privacy-supporting features where applicable.</a:t>
            </a:r>
          </a:p>
          <a:p>
            <a:r>
              <a:rPr sz="1400" dirty="0"/>
              <a:t>• Continuity and incident readiness: backup and recovery planning, incident contacts, and response coordination defined for the engagement.</a:t>
            </a:r>
          </a:p>
          <a:p>
            <a:endParaRPr sz="1400" dirty="0"/>
          </a:p>
          <a:p>
            <a:r>
              <a:rPr sz="1400" dirty="0"/>
              <a:t>We agree on data ownership, hosting responsibilities, access, retention, support, and incident handling with each client. Controls depend on the solution and service scope; we do not imply that every safeguard is enabled in every environment or claim an unverified certification or blanket compliance status.</a:t>
            </a:r>
          </a:p>
        </p:txBody>
      </p:sp>
      <p:sp>
        <p:nvSpPr>
          <p:cNvPr id="6" name="TextBox 5"/>
          <p:cNvSpPr txBox="1"/>
          <p:nvPr/>
        </p:nvSpPr>
        <p:spPr>
          <a:xfrm>
            <a:off x="777240" y="6473952"/>
            <a:ext cx="10058400" cy="182880"/>
          </a:xfrm>
          <a:prstGeom prst="rect">
            <a:avLst/>
          </a:prstGeom>
          <a:noFill/>
        </p:spPr>
        <p:txBody>
          <a:bodyPr wrap="square" lIns="0" tIns="0" rIns="0">
            <a:spAutoFit/>
          </a:bodyPr>
          <a:lstStyle/>
          <a:p>
            <a:pPr>
              <a:defRPr sz="800" b="0">
                <a:solidFill>
                  <a:srgbClr val="626262"/>
                </a:solidFill>
                <a:latin typeface="Aptos"/>
              </a:defRPr>
            </a:pPr>
            <a:r>
              <a:t>ARKAA DIGITAL LLP  •  COMPANY PROFILE</a:t>
            </a:r>
          </a:p>
        </p:txBody>
      </p:sp>
      <p:pic>
        <p:nvPicPr>
          <p:cNvPr id="7" name="Arkaa Logo" descr="ArkaaLogo_trimmed.png"/>
          <p:cNvPicPr>
            <a:picLocks noChangeAspect="1"/>
          </p:cNvPicPr>
          <p:nvPr/>
        </p:nvPicPr>
        <p:blipFill>
          <a:blip r:embed="rId2"/>
          <a:stretch>
            <a:fillRect/>
          </a:stretch>
        </p:blipFill>
        <p:spPr>
          <a:xfrm>
            <a:off x="9464040" y="182880"/>
            <a:ext cx="1965960" cy="86283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8016" cy="6858000"/>
          </a:xfrm>
          <a:prstGeom prst="rect">
            <a:avLst/>
          </a:prstGeom>
          <a:solidFill>
            <a:srgbClr val="F477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11480"/>
            <a:ext cx="10881360" cy="594360"/>
          </a:xfrm>
          <a:prstGeom prst="rect">
            <a:avLst/>
          </a:prstGeom>
          <a:noFill/>
        </p:spPr>
        <p:txBody>
          <a:bodyPr wrap="square" lIns="0" tIns="0" rIns="0">
            <a:spAutoFit/>
          </a:bodyPr>
          <a:lstStyle/>
          <a:p>
            <a:pPr>
              <a:defRPr sz="2700" b="1">
                <a:solidFill>
                  <a:srgbClr val="F47721"/>
                </a:solidFill>
                <a:latin typeface="Aptos"/>
              </a:defRPr>
            </a:pPr>
            <a:r>
              <a:t>DPDP Act &amp; Privacy by Design</a:t>
            </a:r>
          </a:p>
        </p:txBody>
      </p:sp>
      <p:sp>
        <p:nvSpPr>
          <p:cNvPr id="4" name="Rectangle 3"/>
          <p:cNvSpPr/>
          <p:nvPr/>
        </p:nvSpPr>
        <p:spPr>
          <a:xfrm>
            <a:off x="685800" y="1115568"/>
            <a:ext cx="1051560" cy="41148"/>
          </a:xfrm>
          <a:prstGeom prst="rect">
            <a:avLst/>
          </a:prstGeom>
          <a:solidFill>
            <a:srgbClr val="F477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508760"/>
            <a:ext cx="10561320" cy="4526280"/>
          </a:xfrm>
          <a:prstGeom prst="rect">
            <a:avLst/>
          </a:prstGeom>
          <a:noFill/>
        </p:spPr>
        <p:txBody>
          <a:bodyPr wrap="square" lIns="0" tIns="0" rIns="0">
            <a:spAutoFit/>
          </a:bodyPr>
          <a:lstStyle/>
          <a:p>
            <a:r>
              <a:rPr sz="1500" dirty="0"/>
              <a:t>India’s Digital Personal Data Protection Act, 2023 and the Digital Personal Data Protection Rules, 2025 establish requirements for processing digital personal data. </a:t>
            </a:r>
            <a:r>
              <a:rPr sz="1500" dirty="0" err="1"/>
              <a:t>Arkaa</a:t>
            </a:r>
            <a:r>
              <a:rPr sz="1500" dirty="0"/>
              <a:t> Digital can work with clients to build privacy-supporting features and processes, including clear notices and consent flows where applicable, purpose-based collection, data minimization, retention and deletion controls, access or correction request workflows, processor instructions, and breach-response coordination. Exact duties depend on the parties’ legal roles, processing activities, applicable provisions, and commencement timelines.</a:t>
            </a:r>
            <a:endParaRPr lang="en-IN" sz="1500" dirty="0"/>
          </a:p>
        </p:txBody>
      </p:sp>
      <p:sp>
        <p:nvSpPr>
          <p:cNvPr id="6" name="TextBox 5"/>
          <p:cNvSpPr txBox="1"/>
          <p:nvPr/>
        </p:nvSpPr>
        <p:spPr>
          <a:xfrm>
            <a:off x="777240" y="6473952"/>
            <a:ext cx="10058400" cy="182880"/>
          </a:xfrm>
          <a:prstGeom prst="rect">
            <a:avLst/>
          </a:prstGeom>
          <a:noFill/>
        </p:spPr>
        <p:txBody>
          <a:bodyPr wrap="square" lIns="0" tIns="0" rIns="0">
            <a:spAutoFit/>
          </a:bodyPr>
          <a:lstStyle/>
          <a:p>
            <a:pPr>
              <a:defRPr sz="800" b="0">
                <a:solidFill>
                  <a:srgbClr val="626262"/>
                </a:solidFill>
                <a:latin typeface="Aptos"/>
              </a:defRPr>
            </a:pPr>
            <a:r>
              <a:t>ARKAA DIGITAL LLP  •  COMPANY PROFILE</a:t>
            </a:r>
          </a:p>
        </p:txBody>
      </p:sp>
      <p:pic>
        <p:nvPicPr>
          <p:cNvPr id="7" name="Arkaa Logo" descr="ArkaaLogo_trimmed.png"/>
          <p:cNvPicPr>
            <a:picLocks noChangeAspect="1"/>
          </p:cNvPicPr>
          <p:nvPr/>
        </p:nvPicPr>
        <p:blipFill>
          <a:blip r:embed="rId2"/>
          <a:stretch>
            <a:fillRect/>
          </a:stretch>
        </p:blipFill>
        <p:spPr>
          <a:xfrm>
            <a:off x="9464040" y="182880"/>
            <a:ext cx="1965960" cy="86283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8016" cy="6858000"/>
          </a:xfrm>
          <a:prstGeom prst="rect">
            <a:avLst/>
          </a:prstGeom>
          <a:solidFill>
            <a:srgbClr val="F477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11480"/>
            <a:ext cx="10881360" cy="594360"/>
          </a:xfrm>
          <a:prstGeom prst="rect">
            <a:avLst/>
          </a:prstGeom>
          <a:noFill/>
        </p:spPr>
        <p:txBody>
          <a:bodyPr wrap="square" lIns="0" tIns="0" rIns="0">
            <a:spAutoFit/>
          </a:bodyPr>
          <a:lstStyle/>
          <a:p>
            <a:pPr>
              <a:defRPr sz="2700" b="1">
                <a:solidFill>
                  <a:srgbClr val="F47721"/>
                </a:solidFill>
                <a:latin typeface="Aptos"/>
              </a:defRPr>
            </a:pPr>
            <a:r>
              <a:t>NDA &amp; Confidentiality</a:t>
            </a:r>
          </a:p>
        </p:txBody>
      </p:sp>
      <p:sp>
        <p:nvSpPr>
          <p:cNvPr id="4" name="Rectangle 3"/>
          <p:cNvSpPr/>
          <p:nvPr/>
        </p:nvSpPr>
        <p:spPr>
          <a:xfrm>
            <a:off x="685800" y="1115568"/>
            <a:ext cx="1051560" cy="41148"/>
          </a:xfrm>
          <a:prstGeom prst="rect">
            <a:avLst/>
          </a:prstGeom>
          <a:solidFill>
            <a:srgbClr val="F477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508760"/>
            <a:ext cx="10561320" cy="4526280"/>
          </a:xfrm>
          <a:prstGeom prst="rect">
            <a:avLst/>
          </a:prstGeom>
          <a:noFill/>
        </p:spPr>
        <p:txBody>
          <a:bodyPr wrap="square" lIns="0" tIns="0" rIns="0">
            <a:spAutoFit/>
          </a:bodyPr>
          <a:lstStyle/>
          <a:p>
            <a:r>
              <a:rPr sz="1500"/>
              <a:t>For suitable engagements, confidentiality can be documented through mutual or one-way NDAs, confidentiality clauses, and data-processing terms. These can address permitted use, authorized access, handling of client materials, subcontracting, security responsibilities, incident notification, return or deletion at project end, and confidentiality after termination. Agreements should reflect the actual service, data types, and responsibilities of each party.</a:t>
            </a:r>
          </a:p>
        </p:txBody>
      </p:sp>
      <p:sp>
        <p:nvSpPr>
          <p:cNvPr id="6" name="TextBox 5"/>
          <p:cNvSpPr txBox="1"/>
          <p:nvPr/>
        </p:nvSpPr>
        <p:spPr>
          <a:xfrm>
            <a:off x="777240" y="6473952"/>
            <a:ext cx="10058400" cy="182880"/>
          </a:xfrm>
          <a:prstGeom prst="rect">
            <a:avLst/>
          </a:prstGeom>
          <a:noFill/>
        </p:spPr>
        <p:txBody>
          <a:bodyPr wrap="square" lIns="0" tIns="0" rIns="0">
            <a:spAutoFit/>
          </a:bodyPr>
          <a:lstStyle/>
          <a:p>
            <a:pPr>
              <a:defRPr sz="800" b="0">
                <a:solidFill>
                  <a:srgbClr val="626262"/>
                </a:solidFill>
                <a:latin typeface="Aptos"/>
              </a:defRPr>
            </a:pPr>
            <a:r>
              <a:t>ARKAA DIGITAL LLP  •  COMPANY PROFILE</a:t>
            </a:r>
          </a:p>
        </p:txBody>
      </p:sp>
      <p:pic>
        <p:nvPicPr>
          <p:cNvPr id="7" name="Arkaa Logo" descr="ArkaaLogo_trimmed.png"/>
          <p:cNvPicPr>
            <a:picLocks noChangeAspect="1"/>
          </p:cNvPicPr>
          <p:nvPr/>
        </p:nvPicPr>
        <p:blipFill>
          <a:blip r:embed="rId2"/>
          <a:stretch>
            <a:fillRect/>
          </a:stretch>
        </p:blipFill>
        <p:spPr>
          <a:xfrm>
            <a:off x="9464040" y="182880"/>
            <a:ext cx="1965960" cy="86283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8016" cy="6858000"/>
          </a:xfrm>
          <a:prstGeom prst="rect">
            <a:avLst/>
          </a:prstGeom>
          <a:solidFill>
            <a:srgbClr val="F477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11480"/>
            <a:ext cx="10881360" cy="594360"/>
          </a:xfrm>
          <a:prstGeom prst="rect">
            <a:avLst/>
          </a:prstGeom>
          <a:noFill/>
        </p:spPr>
        <p:txBody>
          <a:bodyPr wrap="square" lIns="0" tIns="0" rIns="0">
            <a:spAutoFit/>
          </a:bodyPr>
          <a:lstStyle/>
          <a:p>
            <a:pPr>
              <a:defRPr sz="2700" b="1">
                <a:solidFill>
                  <a:srgbClr val="F47721"/>
                </a:solidFill>
                <a:latin typeface="Aptos"/>
              </a:defRPr>
            </a:pPr>
            <a:r>
              <a:t>Security Governance</a:t>
            </a:r>
          </a:p>
        </p:txBody>
      </p:sp>
      <p:sp>
        <p:nvSpPr>
          <p:cNvPr id="4" name="Rectangle 3"/>
          <p:cNvSpPr/>
          <p:nvPr/>
        </p:nvSpPr>
        <p:spPr>
          <a:xfrm>
            <a:off x="685800" y="1115568"/>
            <a:ext cx="1051560" cy="41148"/>
          </a:xfrm>
          <a:prstGeom prst="rect">
            <a:avLst/>
          </a:prstGeom>
          <a:solidFill>
            <a:srgbClr val="F477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508760"/>
            <a:ext cx="10561320" cy="4526280"/>
          </a:xfrm>
          <a:prstGeom prst="rect">
            <a:avLst/>
          </a:prstGeom>
          <a:noFill/>
        </p:spPr>
        <p:txBody>
          <a:bodyPr wrap="square" lIns="0" tIns="0" rIns="0">
            <a:spAutoFit/>
          </a:bodyPr>
          <a:lstStyle/>
          <a:p>
            <a:r>
              <a:rPr sz="1500" dirty="0"/>
              <a:t>Security is a shared, ongoing practice—not a claim made by a brochure. Before launch, the parties can agree on data classification, access ownership, hosting responsibility, backup and recovery expectations, logging, incident contacts, retention periods, and security acceptance criteria. We can provide relevant project documentation and evidence for controls actually in scope. Any certification, audit result, or compliance status should be stated only when independently verified and applicable.</a:t>
            </a:r>
          </a:p>
        </p:txBody>
      </p:sp>
      <p:sp>
        <p:nvSpPr>
          <p:cNvPr id="6" name="TextBox 5"/>
          <p:cNvSpPr txBox="1"/>
          <p:nvPr/>
        </p:nvSpPr>
        <p:spPr>
          <a:xfrm>
            <a:off x="777240" y="6473952"/>
            <a:ext cx="10058400" cy="182880"/>
          </a:xfrm>
          <a:prstGeom prst="rect">
            <a:avLst/>
          </a:prstGeom>
          <a:noFill/>
        </p:spPr>
        <p:txBody>
          <a:bodyPr wrap="square" lIns="0" tIns="0" rIns="0">
            <a:spAutoFit/>
          </a:bodyPr>
          <a:lstStyle/>
          <a:p>
            <a:pPr>
              <a:defRPr sz="800" b="0">
                <a:solidFill>
                  <a:srgbClr val="626262"/>
                </a:solidFill>
                <a:latin typeface="Aptos"/>
              </a:defRPr>
            </a:pPr>
            <a:r>
              <a:t>ARKAA DIGITAL LLP  •  COMPANY PROFILE</a:t>
            </a:r>
          </a:p>
        </p:txBody>
      </p:sp>
      <p:pic>
        <p:nvPicPr>
          <p:cNvPr id="7" name="Arkaa Logo" descr="ArkaaLogo_trimmed.png"/>
          <p:cNvPicPr>
            <a:picLocks noChangeAspect="1"/>
          </p:cNvPicPr>
          <p:nvPr/>
        </p:nvPicPr>
        <p:blipFill>
          <a:blip r:embed="rId2"/>
          <a:stretch>
            <a:fillRect/>
          </a:stretch>
        </p:blipFill>
        <p:spPr>
          <a:xfrm>
            <a:off x="9464040" y="182880"/>
            <a:ext cx="1965960" cy="86283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8016" cy="6858000"/>
          </a:xfrm>
          <a:prstGeom prst="rect">
            <a:avLst/>
          </a:prstGeom>
          <a:solidFill>
            <a:srgbClr val="F477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11480"/>
            <a:ext cx="10881360" cy="594360"/>
          </a:xfrm>
          <a:prstGeom prst="rect">
            <a:avLst/>
          </a:prstGeom>
          <a:noFill/>
        </p:spPr>
        <p:txBody>
          <a:bodyPr wrap="square" lIns="0" tIns="0" rIns="0">
            <a:spAutoFit/>
          </a:bodyPr>
          <a:lstStyle/>
          <a:p>
            <a:pPr>
              <a:defRPr sz="2700" b="1">
                <a:solidFill>
                  <a:srgbClr val="F47721"/>
                </a:solidFill>
                <a:latin typeface="Aptos"/>
              </a:defRPr>
            </a:pPr>
            <a:r>
              <a:t>Our Delivery Method</a:t>
            </a:r>
          </a:p>
        </p:txBody>
      </p:sp>
      <p:sp>
        <p:nvSpPr>
          <p:cNvPr id="4" name="Rectangle 3"/>
          <p:cNvSpPr/>
          <p:nvPr/>
        </p:nvSpPr>
        <p:spPr>
          <a:xfrm>
            <a:off x="685800" y="1115568"/>
            <a:ext cx="1051560" cy="41148"/>
          </a:xfrm>
          <a:prstGeom prst="rect">
            <a:avLst/>
          </a:prstGeom>
          <a:solidFill>
            <a:srgbClr val="F477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508760"/>
            <a:ext cx="10561320" cy="4526280"/>
          </a:xfrm>
          <a:prstGeom prst="rect">
            <a:avLst/>
          </a:prstGeom>
          <a:noFill/>
        </p:spPr>
        <p:txBody>
          <a:bodyPr wrap="square" lIns="0" tIns="0" rIns="0">
            <a:spAutoFit/>
          </a:bodyPr>
          <a:lstStyle/>
          <a:p>
            <a:r>
              <a:rPr sz="1500"/>
              <a:t>DISCOVER — Understand users, processes, risks, and goals.</a:t>
            </a:r>
          </a:p>
          <a:p>
            <a:r>
              <a:rPr sz="1500"/>
              <a:t>PLAN — Confirm scope, architecture, responsibilities, milestones, and acceptance criteria.</a:t>
            </a:r>
          </a:p>
          <a:p>
            <a:r>
              <a:rPr sz="1500"/>
              <a:t>DESIGN — Map user journeys, data flows, and controls.</a:t>
            </a:r>
          </a:p>
          <a:p>
            <a:r>
              <a:rPr sz="1500"/>
              <a:t>BUILD — Develop iteratively with review and testing.</a:t>
            </a:r>
          </a:p>
          <a:p>
            <a:r>
              <a:rPr sz="1500"/>
              <a:t>VALIDATE — Test functionality, access, integrations, and agreed security requirements.</a:t>
            </a:r>
          </a:p>
          <a:p>
            <a:r>
              <a:rPr sz="1500"/>
              <a:t>DEPLOY — Release with operational readiness and handover.</a:t>
            </a:r>
          </a:p>
          <a:p>
            <a:r>
              <a:rPr sz="1500"/>
              <a:t>SUPPORT — Maintain, monitor, and improve under agreed service terms.</a:t>
            </a:r>
          </a:p>
        </p:txBody>
      </p:sp>
      <p:sp>
        <p:nvSpPr>
          <p:cNvPr id="6" name="TextBox 5"/>
          <p:cNvSpPr txBox="1"/>
          <p:nvPr/>
        </p:nvSpPr>
        <p:spPr>
          <a:xfrm>
            <a:off x="777240" y="6473952"/>
            <a:ext cx="10058400" cy="182880"/>
          </a:xfrm>
          <a:prstGeom prst="rect">
            <a:avLst/>
          </a:prstGeom>
          <a:noFill/>
        </p:spPr>
        <p:txBody>
          <a:bodyPr wrap="square" lIns="0" tIns="0" rIns="0">
            <a:spAutoFit/>
          </a:bodyPr>
          <a:lstStyle/>
          <a:p>
            <a:pPr>
              <a:defRPr sz="800" b="0">
                <a:solidFill>
                  <a:srgbClr val="626262"/>
                </a:solidFill>
                <a:latin typeface="Aptos"/>
              </a:defRPr>
            </a:pPr>
            <a:r>
              <a:t>ARKAA DIGITAL LLP  •  COMPANY PROFILE</a:t>
            </a:r>
          </a:p>
        </p:txBody>
      </p:sp>
      <p:pic>
        <p:nvPicPr>
          <p:cNvPr id="7" name="Arkaa Logo" descr="ArkaaLogo_trimmed.png"/>
          <p:cNvPicPr>
            <a:picLocks noChangeAspect="1"/>
          </p:cNvPicPr>
          <p:nvPr/>
        </p:nvPicPr>
        <p:blipFill>
          <a:blip r:embed="rId2"/>
          <a:stretch>
            <a:fillRect/>
          </a:stretch>
        </p:blipFill>
        <p:spPr>
          <a:xfrm>
            <a:off x="9464040" y="182880"/>
            <a:ext cx="1965960" cy="86283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8016" cy="6858000"/>
          </a:xfrm>
          <a:prstGeom prst="rect">
            <a:avLst/>
          </a:prstGeom>
          <a:solidFill>
            <a:srgbClr val="F477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11480"/>
            <a:ext cx="10881360" cy="594360"/>
          </a:xfrm>
          <a:prstGeom prst="rect">
            <a:avLst/>
          </a:prstGeom>
          <a:noFill/>
        </p:spPr>
        <p:txBody>
          <a:bodyPr wrap="square" lIns="0" tIns="0" rIns="0">
            <a:spAutoFit/>
          </a:bodyPr>
          <a:lstStyle/>
          <a:p>
            <a:pPr>
              <a:defRPr sz="2700" b="1">
                <a:solidFill>
                  <a:srgbClr val="F47721"/>
                </a:solidFill>
                <a:latin typeface="Aptos"/>
              </a:defRPr>
            </a:pPr>
            <a:r>
              <a:rPr dirty="0"/>
              <a:t>Industries &amp; Technology</a:t>
            </a:r>
          </a:p>
        </p:txBody>
      </p:sp>
      <p:sp>
        <p:nvSpPr>
          <p:cNvPr id="4" name="Rectangle 3"/>
          <p:cNvSpPr/>
          <p:nvPr/>
        </p:nvSpPr>
        <p:spPr>
          <a:xfrm>
            <a:off x="685800" y="1115568"/>
            <a:ext cx="1051560" cy="41148"/>
          </a:xfrm>
          <a:prstGeom prst="rect">
            <a:avLst/>
          </a:prstGeom>
          <a:solidFill>
            <a:srgbClr val="F477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508760"/>
            <a:ext cx="10561320" cy="3970318"/>
          </a:xfrm>
          <a:prstGeom prst="rect">
            <a:avLst/>
          </a:prstGeom>
          <a:noFill/>
        </p:spPr>
        <p:txBody>
          <a:bodyPr wrap="square" lIns="0" tIns="0" rIns="0">
            <a:spAutoFit/>
          </a:bodyPr>
          <a:lstStyle/>
          <a:p>
            <a:pPr>
              <a:spcAft>
                <a:spcPts val="800"/>
              </a:spcAft>
            </a:pPr>
            <a:r>
              <a:rPr sz="1600">
                <a:solidFill>
                  <a:srgbClr val="414141"/>
                </a:solidFill>
              </a:rPr>
              <a:t>INDUSTRIES WE SUPPORT</a:t>
            </a:r>
          </a:p>
          <a:p>
            <a:pPr>
              <a:spcAft>
                <a:spcPts val="800"/>
              </a:spcAft>
            </a:pPr>
            <a:r>
              <a:rPr sz="1600">
                <a:solidFill>
                  <a:srgbClr val="414141"/>
                </a:solidFill>
              </a:rPr>
              <a:t>• Healthcare and hospitals</a:t>
            </a:r>
          </a:p>
          <a:p>
            <a:pPr>
              <a:spcAft>
                <a:spcPts val="800"/>
              </a:spcAft>
            </a:pPr>
            <a:r>
              <a:rPr sz="1600">
                <a:solidFill>
                  <a:srgbClr val="414141"/>
                </a:solidFill>
              </a:rPr>
              <a:t>• Education and universities</a:t>
            </a:r>
          </a:p>
          <a:p>
            <a:pPr>
              <a:spcAft>
                <a:spcPts val="800"/>
              </a:spcAft>
            </a:pPr>
            <a:r>
              <a:rPr sz="1600">
                <a:solidFill>
                  <a:srgbClr val="414141"/>
                </a:solidFill>
              </a:rPr>
              <a:t>• Corporate and professional services</a:t>
            </a:r>
          </a:p>
          <a:p>
            <a:pPr>
              <a:spcAft>
                <a:spcPts val="800"/>
              </a:spcAft>
            </a:pPr>
            <a:r>
              <a:rPr sz="1600">
                <a:solidFill>
                  <a:srgbClr val="414141"/>
                </a:solidFill>
              </a:rPr>
              <a:t>• Startups and SMEs</a:t>
            </a:r>
          </a:p>
          <a:p>
            <a:pPr>
              <a:spcAft>
                <a:spcPts val="800"/>
              </a:spcAft>
            </a:pPr>
            <a:r>
              <a:rPr sz="1600">
                <a:solidFill>
                  <a:srgbClr val="414141"/>
                </a:solidFill>
              </a:rPr>
              <a:t>• Events and conferences</a:t>
            </a:r>
          </a:p>
          <a:p>
            <a:pPr>
              <a:spcAft>
                <a:spcPts val="800"/>
              </a:spcAft>
            </a:pPr>
            <a:r>
              <a:rPr sz="1600">
                <a:solidFill>
                  <a:srgbClr val="414141"/>
                </a:solidFill>
              </a:rPr>
              <a:t>• Service providers and institutions</a:t>
            </a:r>
          </a:p>
          <a:p>
            <a:pPr>
              <a:spcAft>
                <a:spcPts val="800"/>
              </a:spcAft>
            </a:pPr>
            <a:endParaRPr sz="1600">
              <a:solidFill>
                <a:srgbClr val="414141"/>
              </a:solidFill>
            </a:endParaRPr>
          </a:p>
          <a:p>
            <a:pPr>
              <a:spcAft>
                <a:spcPts val="800"/>
              </a:spcAft>
            </a:pPr>
            <a:r>
              <a:rPr sz="1600">
                <a:solidFill>
                  <a:srgbClr val="414141"/>
                </a:solidFill>
              </a:rPr>
              <a:t>TECHNOLOGY &amp; SOLUTION CAPABILITIES</a:t>
            </a:r>
          </a:p>
          <a:p>
            <a:pPr>
              <a:spcAft>
                <a:spcPts val="800"/>
              </a:spcAft>
            </a:pPr>
            <a:r>
              <a:rPr sz="1600">
                <a:solidFill>
                  <a:srgbClr val="414141"/>
                </a:solidFill>
              </a:rPr>
              <a:t>Web and mobile application development • ERP and CRM platforms • Document management systems • Database design and integration • APIs and workflow automation • Cloud hosting and DevOps • Data analytics and reporting • UI/UX design</a:t>
            </a:r>
          </a:p>
          <a:p>
            <a:pPr>
              <a:spcAft>
                <a:spcPts val="800"/>
              </a:spcAft>
            </a:pPr>
            <a:endParaRPr sz="1600">
              <a:solidFill>
                <a:srgbClr val="414141"/>
              </a:solidFill>
            </a:endParaRPr>
          </a:p>
          <a:p>
            <a:pPr>
              <a:spcAft>
                <a:spcPts val="800"/>
              </a:spcAft>
            </a:pPr>
            <a:r>
              <a:rPr sz="1600">
                <a:solidFill>
                  <a:srgbClr val="414141"/>
                </a:solidFill>
              </a:rPr>
              <a:t>Industry-specific solutions are scoped around each client’s operational workflows, users, data requirements, and applicable regulatory needs.</a:t>
            </a:r>
          </a:p>
        </p:txBody>
      </p:sp>
      <p:sp>
        <p:nvSpPr>
          <p:cNvPr id="6" name="TextBox 5"/>
          <p:cNvSpPr txBox="1"/>
          <p:nvPr/>
        </p:nvSpPr>
        <p:spPr>
          <a:xfrm>
            <a:off x="777240" y="6473952"/>
            <a:ext cx="10058400" cy="182880"/>
          </a:xfrm>
          <a:prstGeom prst="rect">
            <a:avLst/>
          </a:prstGeom>
          <a:noFill/>
        </p:spPr>
        <p:txBody>
          <a:bodyPr wrap="square" lIns="0" tIns="0" rIns="0">
            <a:spAutoFit/>
          </a:bodyPr>
          <a:lstStyle/>
          <a:p>
            <a:pPr>
              <a:defRPr sz="800" b="0">
                <a:solidFill>
                  <a:srgbClr val="626262"/>
                </a:solidFill>
                <a:latin typeface="Aptos"/>
              </a:defRPr>
            </a:pPr>
            <a:r>
              <a:t>ARKAA DIGITAL LLP  •  COMPANY PROFILE</a:t>
            </a:r>
          </a:p>
        </p:txBody>
      </p:sp>
      <p:pic>
        <p:nvPicPr>
          <p:cNvPr id="7" name="Arkaa Logo" descr="ArkaaLogo_trimmed.png"/>
          <p:cNvPicPr>
            <a:picLocks noChangeAspect="1"/>
          </p:cNvPicPr>
          <p:nvPr/>
        </p:nvPicPr>
        <p:blipFill>
          <a:blip r:embed="rId2"/>
          <a:stretch>
            <a:fillRect/>
          </a:stretch>
        </p:blipFill>
        <p:spPr>
          <a:xfrm>
            <a:off x="9464040" y="182880"/>
            <a:ext cx="1965960" cy="86283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8016" cy="6858000"/>
          </a:xfrm>
          <a:prstGeom prst="rect">
            <a:avLst/>
          </a:prstGeom>
          <a:solidFill>
            <a:srgbClr val="F477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11480"/>
            <a:ext cx="10881360" cy="594360"/>
          </a:xfrm>
          <a:prstGeom prst="rect">
            <a:avLst/>
          </a:prstGeom>
          <a:noFill/>
        </p:spPr>
        <p:txBody>
          <a:bodyPr wrap="square" lIns="0" tIns="0" rIns="0">
            <a:spAutoFit/>
          </a:bodyPr>
          <a:lstStyle/>
          <a:p>
            <a:pPr>
              <a:defRPr sz="2700" b="1">
                <a:solidFill>
                  <a:srgbClr val="F47721"/>
                </a:solidFill>
                <a:latin typeface="Aptos"/>
              </a:defRPr>
            </a:pPr>
            <a:r>
              <a:t>Why Choose Arkaa Digital?</a:t>
            </a:r>
          </a:p>
        </p:txBody>
      </p:sp>
      <p:sp>
        <p:nvSpPr>
          <p:cNvPr id="4" name="Rectangle 3"/>
          <p:cNvSpPr/>
          <p:nvPr/>
        </p:nvSpPr>
        <p:spPr>
          <a:xfrm>
            <a:off x="685800" y="1115568"/>
            <a:ext cx="1051560" cy="41148"/>
          </a:xfrm>
          <a:prstGeom prst="rect">
            <a:avLst/>
          </a:prstGeom>
          <a:solidFill>
            <a:srgbClr val="F477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508760"/>
            <a:ext cx="10561320" cy="4526280"/>
          </a:xfrm>
          <a:prstGeom prst="rect">
            <a:avLst/>
          </a:prstGeom>
          <a:noFill/>
        </p:spPr>
        <p:txBody>
          <a:bodyPr wrap="square" lIns="0" tIns="0" rIns="0">
            <a:spAutoFit/>
          </a:bodyPr>
          <a:lstStyle/>
          <a:p>
            <a:pPr>
              <a:spcAft>
                <a:spcPts val="800"/>
              </a:spcAft>
              <a:defRPr sz="1300" b="0">
                <a:solidFill>
                  <a:srgbClr val="252525"/>
                </a:solidFill>
                <a:latin typeface="Aptos"/>
              </a:defRPr>
            </a:pPr>
            <a:r>
              <a:t>End-to-End Digital Solutions: From software development and DMS to cloud infrastructure, automation, and digital marketing, we provide comprehensive technology solutions under one roof.</a:t>
            </a:r>
          </a:p>
          <a:p>
            <a:pPr>
              <a:spcAft>
                <a:spcPts val="800"/>
              </a:spcAft>
              <a:defRPr sz="1300">
                <a:solidFill>
                  <a:srgbClr val="252525"/>
                </a:solidFill>
                <a:latin typeface="Aptos"/>
              </a:defRPr>
            </a:pPr>
            <a:r>
              <a:t>Security &amp; Data Protection at Every Stage: We prioritize the confidentiality, integrity, and security of client data through appropriate security controls, access management, secure development practices, and risk-based safeguards.</a:t>
            </a:r>
          </a:p>
          <a:p>
            <a:pPr>
              <a:spcAft>
                <a:spcPts val="800"/>
              </a:spcAft>
              <a:defRPr sz="1300">
                <a:solidFill>
                  <a:srgbClr val="252525"/>
                </a:solidFill>
                <a:latin typeface="Aptos"/>
              </a:defRPr>
            </a:pPr>
            <a:r>
              <a:t>Privacy &amp; Legal Responsibility: We recognize applicable data protection requirements, including India’s Digital Personal Data Protection Act, 2023, and relevant rules. We incorporate privacy considerations into our solutions and define contractual responsibilities through suitable confidentiality agreements, NDAs, and data processing terms.</a:t>
            </a:r>
          </a:p>
          <a:p>
            <a:pPr>
              <a:spcAft>
                <a:spcPts val="800"/>
              </a:spcAft>
              <a:defRPr sz="1300">
                <a:solidFill>
                  <a:srgbClr val="252525"/>
                </a:solidFill>
                <a:latin typeface="Aptos"/>
              </a:defRPr>
            </a:pPr>
            <a:r>
              <a:t>Customized Business Solutions: We understand that every business has unique requirements. Our solutions are tailored to your workflows, operational challenges, and long-term objectives.</a:t>
            </a:r>
          </a:p>
          <a:p>
            <a:pPr>
              <a:spcAft>
                <a:spcPts val="800"/>
              </a:spcAft>
              <a:defRPr sz="1300">
                <a:solidFill>
                  <a:srgbClr val="252525"/>
                </a:solidFill>
                <a:latin typeface="Aptos"/>
              </a:defRPr>
            </a:pPr>
            <a:r>
              <a:t>Modern &amp; Scalable Technology: We use suitable modern technologies and flexible architectures to develop reliable solutions that can evolve with your business.</a:t>
            </a:r>
          </a:p>
          <a:p>
            <a:pPr>
              <a:spcAft>
                <a:spcPts val="800"/>
              </a:spcAft>
              <a:defRPr sz="1300">
                <a:solidFill>
                  <a:srgbClr val="252525"/>
                </a:solidFill>
                <a:latin typeface="Aptos"/>
              </a:defRPr>
            </a:pPr>
            <a:r>
              <a:t>Transparency &amp; Accountability: We emphasize clear communication, defined project scope, documented deliverables, and agreed responsibilities throughout the project lifecycle.</a:t>
            </a:r>
          </a:p>
          <a:p>
            <a:pPr>
              <a:spcAft>
                <a:spcPts val="800"/>
              </a:spcAft>
              <a:defRPr sz="1300">
                <a:solidFill>
                  <a:srgbClr val="252525"/>
                </a:solidFill>
                <a:latin typeface="Aptos"/>
              </a:defRPr>
            </a:pPr>
            <a:r>
              <a:t>Reliable Support &amp; Long-Term Partnership: Our relationship does not end at deployment. We offer ongoing maintenance, technical support, performance improvements, and enhancements based on agreed service terms.</a:t>
            </a:r>
          </a:p>
          <a:p>
            <a:pPr>
              <a:spcAft>
                <a:spcPts val="800"/>
              </a:spcAft>
              <a:defRPr sz="1300">
                <a:solidFill>
                  <a:srgbClr val="252525"/>
                </a:solidFill>
                <a:latin typeface="Aptos"/>
              </a:defRPr>
            </a:pPr>
            <a:r>
              <a:t>Business-Focused Innovation: We focus on simplifying operations, improving productivity, reducing manual work, and helping clients make informed decisions through technology.</a:t>
            </a:r>
          </a:p>
          <a:p>
            <a:pPr>
              <a:defRPr sz="1400" b="1">
                <a:solidFill>
                  <a:srgbClr val="F47721"/>
                </a:solidFill>
                <a:latin typeface="Aptos"/>
              </a:defRPr>
            </a:pPr>
            <a:r>
              <a:t>We don't just build digital solutions. We build secure, scalable, and reliable technology partnerships.</a:t>
            </a:r>
          </a:p>
        </p:txBody>
      </p:sp>
      <p:sp>
        <p:nvSpPr>
          <p:cNvPr id="6" name="TextBox 5"/>
          <p:cNvSpPr txBox="1"/>
          <p:nvPr/>
        </p:nvSpPr>
        <p:spPr>
          <a:xfrm>
            <a:off x="777240" y="6473952"/>
            <a:ext cx="10058400" cy="182880"/>
          </a:xfrm>
          <a:prstGeom prst="rect">
            <a:avLst/>
          </a:prstGeom>
          <a:noFill/>
        </p:spPr>
        <p:txBody>
          <a:bodyPr wrap="square" lIns="0" tIns="0" rIns="0">
            <a:spAutoFit/>
          </a:bodyPr>
          <a:lstStyle/>
          <a:p>
            <a:pPr>
              <a:defRPr sz="800" b="0">
                <a:solidFill>
                  <a:srgbClr val="626262"/>
                </a:solidFill>
                <a:latin typeface="Aptos"/>
              </a:defRPr>
            </a:pPr>
            <a:r>
              <a:t>ARKAA DIGITAL LLP  •  COMPANY PROFILE</a:t>
            </a:r>
          </a:p>
        </p:txBody>
      </p:sp>
      <p:pic>
        <p:nvPicPr>
          <p:cNvPr id="7" name="Arkaa Logo" descr="ArkaaLogo_trimmed.png"/>
          <p:cNvPicPr>
            <a:picLocks noChangeAspect="1"/>
          </p:cNvPicPr>
          <p:nvPr/>
        </p:nvPicPr>
        <p:blipFill>
          <a:blip r:embed="rId2"/>
          <a:stretch>
            <a:fillRect/>
          </a:stretch>
        </p:blipFill>
        <p:spPr>
          <a:xfrm>
            <a:off x="9464040" y="182880"/>
            <a:ext cx="1965960" cy="86283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8016" cy="6858000"/>
          </a:xfrm>
          <a:prstGeom prst="rect">
            <a:avLst/>
          </a:prstGeom>
          <a:solidFill>
            <a:srgbClr val="F477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11480"/>
            <a:ext cx="10881360" cy="594360"/>
          </a:xfrm>
          <a:prstGeom prst="rect">
            <a:avLst/>
          </a:prstGeom>
          <a:noFill/>
        </p:spPr>
        <p:txBody>
          <a:bodyPr wrap="square" lIns="0" tIns="0" rIns="0">
            <a:spAutoFit/>
          </a:bodyPr>
          <a:lstStyle/>
          <a:p>
            <a:pPr>
              <a:defRPr sz="2700" b="1">
                <a:solidFill>
                  <a:srgbClr val="F47721"/>
                </a:solidFill>
                <a:latin typeface="Aptos"/>
              </a:defRPr>
            </a:pPr>
            <a:r>
              <a:rPr dirty="0"/>
              <a:t>Company Details</a:t>
            </a:r>
          </a:p>
        </p:txBody>
      </p:sp>
      <p:sp>
        <p:nvSpPr>
          <p:cNvPr id="4" name="Rectangle 3"/>
          <p:cNvSpPr/>
          <p:nvPr/>
        </p:nvSpPr>
        <p:spPr>
          <a:xfrm>
            <a:off x="685800" y="1115568"/>
            <a:ext cx="1051560" cy="41148"/>
          </a:xfrm>
          <a:prstGeom prst="rect">
            <a:avLst/>
          </a:prstGeom>
          <a:solidFill>
            <a:srgbClr val="F477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508760"/>
            <a:ext cx="10561320" cy="4158190"/>
          </a:xfrm>
          <a:prstGeom prst="rect">
            <a:avLst/>
          </a:prstGeom>
          <a:noFill/>
        </p:spPr>
        <p:txBody>
          <a:bodyPr wrap="square" lIns="0" tIns="0" rIns="0">
            <a:spAutoFit/>
          </a:bodyPr>
          <a:lstStyle/>
          <a:p>
            <a:pPr>
              <a:lnSpc>
                <a:spcPct val="150000"/>
              </a:lnSpc>
            </a:pPr>
            <a:r>
              <a:rPr lang="en-IN" b="1" dirty="0"/>
              <a:t>Company Name:</a:t>
            </a:r>
            <a:r>
              <a:rPr lang="en-IN" dirty="0"/>
              <a:t> </a:t>
            </a:r>
            <a:r>
              <a:rPr lang="en-IN" dirty="0" err="1"/>
              <a:t>Arkaa</a:t>
            </a:r>
            <a:r>
              <a:rPr lang="en-IN" dirty="0"/>
              <a:t> Digital LLP</a:t>
            </a:r>
            <a:br>
              <a:rPr lang="en-IN" dirty="0"/>
            </a:br>
            <a:r>
              <a:rPr lang="en-IN" b="1" dirty="0"/>
              <a:t>Website:</a:t>
            </a:r>
            <a:r>
              <a:rPr lang="en-IN" dirty="0"/>
              <a:t> </a:t>
            </a:r>
            <a:r>
              <a:rPr lang="en-IN" dirty="0">
                <a:hlinkClick r:id="rId2"/>
              </a:rPr>
              <a:t>www.arkaadigital.com</a:t>
            </a:r>
            <a:br>
              <a:rPr lang="en-IN" dirty="0"/>
            </a:br>
            <a:r>
              <a:rPr lang="en-IN" b="1" dirty="0"/>
              <a:t>Email:</a:t>
            </a:r>
            <a:r>
              <a:rPr lang="en-IN" dirty="0"/>
              <a:t> </a:t>
            </a:r>
            <a:r>
              <a:rPr lang="en-IN" dirty="0">
                <a:hlinkClick r:id="rId3"/>
              </a:rPr>
              <a:t>hey@arkaadigital.com</a:t>
            </a:r>
            <a:br>
              <a:rPr lang="en-IN" dirty="0"/>
            </a:br>
            <a:r>
              <a:rPr lang="en-IN" b="1" dirty="0"/>
              <a:t>Phone:</a:t>
            </a:r>
            <a:r>
              <a:rPr lang="en-IN" dirty="0"/>
              <a:t> +91 93805 08350</a:t>
            </a:r>
          </a:p>
          <a:p>
            <a:pPr>
              <a:lnSpc>
                <a:spcPct val="150000"/>
              </a:lnSpc>
            </a:pPr>
            <a:r>
              <a:rPr lang="en-IN" b="1" dirty="0"/>
              <a:t>Business Focus:</a:t>
            </a:r>
            <a:r>
              <a:rPr lang="en-IN" dirty="0"/>
              <a:t> Custom Software Development, Enterprise Solutions, Healthcare and Education Systems, Document Management, Cloud Services, Automation, Data Analytics, and Digital Transformation.</a:t>
            </a:r>
          </a:p>
          <a:p>
            <a:pPr>
              <a:lnSpc>
                <a:spcPct val="150000"/>
              </a:lnSpc>
            </a:pPr>
            <a:r>
              <a:rPr lang="en-IN" b="1" dirty="0"/>
              <a:t>Registered Office:</a:t>
            </a:r>
            <a:r>
              <a:rPr lang="en-IN" dirty="0"/>
              <a:t> 10th Main, Jeevan </a:t>
            </a:r>
            <a:r>
              <a:rPr lang="en-IN" dirty="0" err="1"/>
              <a:t>Bhimanagar</a:t>
            </a:r>
            <a:r>
              <a:rPr lang="en-IN" dirty="0"/>
              <a:t>, 491, 8th Cross Rd, Hal, HAL 3rd Stage, Jeevan </a:t>
            </a:r>
            <a:r>
              <a:rPr lang="en-IN" dirty="0" err="1"/>
              <a:t>Bima</a:t>
            </a:r>
            <a:r>
              <a:rPr lang="en-IN" dirty="0"/>
              <a:t> Nagar, Bengaluru, Karnataka 560075</a:t>
            </a:r>
          </a:p>
          <a:p>
            <a:pPr>
              <a:lnSpc>
                <a:spcPct val="150000"/>
              </a:lnSpc>
            </a:pPr>
            <a:r>
              <a:rPr lang="en-IN" b="1" dirty="0"/>
              <a:t>Our Commitment:</a:t>
            </a:r>
            <a:r>
              <a:rPr lang="en-IN" dirty="0"/>
              <a:t> Delivering practical, secure, scalable, and user-focused digital solutions that help organizations streamline operations and achieve their business goals.</a:t>
            </a:r>
          </a:p>
        </p:txBody>
      </p:sp>
      <p:sp>
        <p:nvSpPr>
          <p:cNvPr id="6" name="TextBox 5"/>
          <p:cNvSpPr txBox="1"/>
          <p:nvPr/>
        </p:nvSpPr>
        <p:spPr>
          <a:xfrm>
            <a:off x="777240" y="6473952"/>
            <a:ext cx="10058400" cy="182880"/>
          </a:xfrm>
          <a:prstGeom prst="rect">
            <a:avLst/>
          </a:prstGeom>
          <a:noFill/>
        </p:spPr>
        <p:txBody>
          <a:bodyPr wrap="square" lIns="0" tIns="0" rIns="0">
            <a:spAutoFit/>
          </a:bodyPr>
          <a:lstStyle/>
          <a:p>
            <a:pPr>
              <a:defRPr sz="800" b="0">
                <a:solidFill>
                  <a:srgbClr val="626262"/>
                </a:solidFill>
                <a:latin typeface="Aptos"/>
              </a:defRPr>
            </a:pPr>
            <a:r>
              <a:t>ARKAA DIGITAL LLP  •  COMPANY PROFILE</a:t>
            </a:r>
          </a:p>
        </p:txBody>
      </p:sp>
      <p:pic>
        <p:nvPicPr>
          <p:cNvPr id="7" name="Arkaa Logo" descr="ArkaaLogo_trimmed.png"/>
          <p:cNvPicPr>
            <a:picLocks noChangeAspect="1"/>
          </p:cNvPicPr>
          <p:nvPr/>
        </p:nvPicPr>
        <p:blipFill>
          <a:blip r:embed="rId4"/>
          <a:stretch>
            <a:fillRect/>
          </a:stretch>
        </p:blipFill>
        <p:spPr>
          <a:xfrm>
            <a:off x="9464040" y="182880"/>
            <a:ext cx="1965960" cy="86283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8016" cy="6858000"/>
          </a:xfrm>
          <a:prstGeom prst="rect">
            <a:avLst/>
          </a:prstGeom>
          <a:solidFill>
            <a:srgbClr val="F477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11480"/>
            <a:ext cx="10881360" cy="594360"/>
          </a:xfrm>
          <a:prstGeom prst="rect">
            <a:avLst/>
          </a:prstGeom>
          <a:noFill/>
        </p:spPr>
        <p:txBody>
          <a:bodyPr wrap="square" lIns="0" tIns="0" rIns="0">
            <a:spAutoFit/>
          </a:bodyPr>
          <a:lstStyle/>
          <a:p>
            <a:pPr>
              <a:defRPr sz="2700" b="1">
                <a:solidFill>
                  <a:srgbClr val="F47721"/>
                </a:solidFill>
                <a:latin typeface="Aptos"/>
              </a:defRPr>
            </a:pPr>
            <a:r>
              <a:t>A Clear Commitment to Responsible Delivery</a:t>
            </a:r>
          </a:p>
        </p:txBody>
      </p:sp>
      <p:sp>
        <p:nvSpPr>
          <p:cNvPr id="4" name="Rectangle 3"/>
          <p:cNvSpPr/>
          <p:nvPr/>
        </p:nvSpPr>
        <p:spPr>
          <a:xfrm>
            <a:off x="685800" y="1115568"/>
            <a:ext cx="1051560" cy="41148"/>
          </a:xfrm>
          <a:prstGeom prst="rect">
            <a:avLst/>
          </a:prstGeom>
          <a:solidFill>
            <a:srgbClr val="F477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325880"/>
            <a:ext cx="10698480" cy="411480"/>
          </a:xfrm>
          <a:prstGeom prst="rect">
            <a:avLst/>
          </a:prstGeom>
          <a:noFill/>
        </p:spPr>
        <p:txBody>
          <a:bodyPr wrap="square" lIns="0" tIns="0" rIns="0">
            <a:spAutoFit/>
          </a:bodyPr>
          <a:lstStyle/>
          <a:p>
            <a:pPr>
              <a:defRPr sz="1400" b="1">
                <a:solidFill>
                  <a:srgbClr val="626262"/>
                </a:solidFill>
                <a:latin typeface="Aptos"/>
              </a:defRPr>
            </a:pPr>
            <a:r>
              <a:t>Privacy • Confidentiality • Security • Accountability</a:t>
            </a:r>
          </a:p>
        </p:txBody>
      </p:sp>
      <p:sp>
        <p:nvSpPr>
          <p:cNvPr id="6" name="TextBox 5"/>
          <p:cNvSpPr txBox="1"/>
          <p:nvPr/>
        </p:nvSpPr>
        <p:spPr>
          <a:xfrm>
            <a:off x="777240" y="1874519"/>
            <a:ext cx="10561320" cy="4160520"/>
          </a:xfrm>
          <a:prstGeom prst="rect">
            <a:avLst/>
          </a:prstGeom>
          <a:noFill/>
        </p:spPr>
        <p:txBody>
          <a:bodyPr wrap="square" lIns="0" tIns="0" rIns="0">
            <a:spAutoFit/>
          </a:bodyPr>
          <a:lstStyle/>
          <a:p>
            <a:pPr>
              <a:defRPr sz="1700" b="0">
                <a:solidFill>
                  <a:srgbClr val="252525"/>
                </a:solidFill>
                <a:latin typeface="Aptos"/>
              </a:defRPr>
            </a:pPr>
            <a:r>
              <a:t>Privacy and security requirements are identified with each client and reflected in the agreed scope, architecture, contracts, and operating procedures.</a:t>
            </a:r>
          </a:p>
          <a:p>
            <a:pPr>
              <a:defRPr sz="1700" b="0">
                <a:solidFill>
                  <a:srgbClr val="252525"/>
                </a:solidFill>
                <a:latin typeface="Aptos"/>
              </a:defRPr>
            </a:pPr>
            <a:endParaRPr/>
          </a:p>
          <a:p>
            <a:pPr>
              <a:defRPr sz="1700" b="0">
                <a:solidFill>
                  <a:srgbClr val="252525"/>
                </a:solidFill>
                <a:latin typeface="Aptos"/>
              </a:defRPr>
            </a:pPr>
            <a:r>
              <a:t>Specific legal duties depend on the parties’ roles and the data processing involved. We describe only controls that are applicable and actually implemented or contractually agreed. No certification or blanket compliance status is implied.</a:t>
            </a:r>
          </a:p>
        </p:txBody>
      </p:sp>
      <p:sp>
        <p:nvSpPr>
          <p:cNvPr id="7" name="TextBox 6"/>
          <p:cNvSpPr txBox="1"/>
          <p:nvPr/>
        </p:nvSpPr>
        <p:spPr>
          <a:xfrm>
            <a:off x="777240" y="6473952"/>
            <a:ext cx="10058400" cy="182880"/>
          </a:xfrm>
          <a:prstGeom prst="rect">
            <a:avLst/>
          </a:prstGeom>
          <a:noFill/>
        </p:spPr>
        <p:txBody>
          <a:bodyPr wrap="square" lIns="0" tIns="0" rIns="0">
            <a:spAutoFit/>
          </a:bodyPr>
          <a:lstStyle/>
          <a:p>
            <a:pPr>
              <a:defRPr sz="800" b="0">
                <a:solidFill>
                  <a:srgbClr val="626262"/>
                </a:solidFill>
                <a:latin typeface="Aptos"/>
              </a:defRPr>
            </a:pPr>
            <a:r>
              <a:t>ARKAA DIGITAL LLP  •  COMPANY PROFILE</a:t>
            </a:r>
          </a:p>
        </p:txBody>
      </p:sp>
      <p:pic>
        <p:nvPicPr>
          <p:cNvPr id="8" name="Arkaa Logo" descr="ArkaaLogo_trimmed.png"/>
          <p:cNvPicPr>
            <a:picLocks noChangeAspect="1"/>
          </p:cNvPicPr>
          <p:nvPr/>
        </p:nvPicPr>
        <p:blipFill>
          <a:blip r:embed="rId2"/>
          <a:stretch>
            <a:fillRect/>
          </a:stretch>
        </p:blipFill>
        <p:spPr>
          <a:xfrm>
            <a:off x="9464040" y="182880"/>
            <a:ext cx="1965960" cy="862838"/>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F57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ArkaaLogo_trimmed.png"/>
          <p:cNvPicPr>
            <a:picLocks noChangeAspect="1"/>
          </p:cNvPicPr>
          <p:nvPr/>
        </p:nvPicPr>
        <p:blipFill>
          <a:blip r:embed="rId2"/>
          <a:stretch>
            <a:fillRect/>
          </a:stretch>
        </p:blipFill>
        <p:spPr>
          <a:xfrm>
            <a:off x="4754880" y="685800"/>
            <a:ext cx="2697480" cy="1183894"/>
          </a:xfrm>
          <a:prstGeom prst="rect">
            <a:avLst/>
          </a:prstGeom>
        </p:spPr>
      </p:pic>
      <p:sp>
        <p:nvSpPr>
          <p:cNvPr id="4" name="TextBox 3"/>
          <p:cNvSpPr txBox="1"/>
          <p:nvPr/>
        </p:nvSpPr>
        <p:spPr>
          <a:xfrm>
            <a:off x="914400" y="2331720"/>
            <a:ext cx="10360152" cy="914400"/>
          </a:xfrm>
          <a:prstGeom prst="rect">
            <a:avLst/>
          </a:prstGeom>
          <a:noFill/>
        </p:spPr>
        <p:txBody>
          <a:bodyPr wrap="none" anchor="ctr">
            <a:spAutoFit/>
          </a:bodyPr>
          <a:lstStyle/>
          <a:p>
            <a:pPr algn="ctr"/>
            <a:r>
              <a:rPr sz="4200" b="1">
                <a:solidFill>
                  <a:srgbClr val="6F3034"/>
                </a:solidFill>
                <a:latin typeface="Aptos Display"/>
              </a:rPr>
              <a:t>Thank You</a:t>
            </a:r>
          </a:p>
        </p:txBody>
      </p:sp>
      <p:sp>
        <p:nvSpPr>
          <p:cNvPr id="5" name="TextBox 4"/>
          <p:cNvSpPr txBox="1"/>
          <p:nvPr/>
        </p:nvSpPr>
        <p:spPr>
          <a:xfrm>
            <a:off x="1371600" y="3246120"/>
            <a:ext cx="9445752" cy="594360"/>
          </a:xfrm>
          <a:prstGeom prst="rect">
            <a:avLst/>
          </a:prstGeom>
          <a:noFill/>
        </p:spPr>
        <p:txBody>
          <a:bodyPr wrap="none" anchor="ctr">
            <a:spAutoFit/>
          </a:bodyPr>
          <a:lstStyle/>
          <a:p>
            <a:pPr algn="ctr"/>
            <a:r>
              <a:rPr sz="1900">
                <a:solidFill>
                  <a:srgbClr val="555555"/>
                </a:solidFill>
                <a:latin typeface="Aptos"/>
              </a:rPr>
              <a:t>Let’s build smarter, grow stronger, and shape what’s next—together.</a:t>
            </a:r>
          </a:p>
        </p:txBody>
      </p:sp>
      <p:sp>
        <p:nvSpPr>
          <p:cNvPr id="6" name="Rectangle 5"/>
          <p:cNvSpPr/>
          <p:nvPr/>
        </p:nvSpPr>
        <p:spPr>
          <a:xfrm>
            <a:off x="5166360" y="4069080"/>
            <a:ext cx="1856231" cy="41148"/>
          </a:xfrm>
          <a:prstGeom prst="rect">
            <a:avLst/>
          </a:prstGeom>
          <a:solidFill>
            <a:srgbClr val="F57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371600" y="4434840"/>
            <a:ext cx="9445752" cy="1005840"/>
          </a:xfrm>
          <a:prstGeom prst="rect">
            <a:avLst/>
          </a:prstGeom>
          <a:noFill/>
        </p:spPr>
        <p:txBody>
          <a:bodyPr wrap="none" anchor="ctr">
            <a:spAutoFit/>
          </a:bodyPr>
          <a:lstStyle/>
          <a:p>
            <a:pPr algn="ctr">
              <a:spcAft>
                <a:spcPts val="800"/>
              </a:spcAft>
            </a:pPr>
            <a:r>
              <a:rPr sz="1500" b="1">
                <a:solidFill>
                  <a:srgbClr val="6F3034"/>
                </a:solidFill>
                <a:latin typeface="Aptos"/>
              </a:rPr>
              <a:t>ARKAA DIGITAL LLP</a:t>
            </a:r>
          </a:p>
          <a:p>
            <a:pPr algn="ctr">
              <a:spcAft>
                <a:spcPts val="800"/>
              </a:spcAft>
            </a:pPr>
            <a:r>
              <a:rPr sz="1300" b="0">
                <a:solidFill>
                  <a:srgbClr val="5F5F5F"/>
                </a:solidFill>
                <a:latin typeface="Aptos"/>
              </a:rPr>
              <a:t>www.arkaadigital.com  |  hey@arkaadigital.com  |  +91 93805 08350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12</TotalTime>
  <Words>2360</Words>
  <Application>Microsoft Macintosh PowerPoint</Application>
  <PresentationFormat>Widescreen</PresentationFormat>
  <Paragraphs>137</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Microsoft Office User</cp:lastModifiedBy>
  <cp:revision>11</cp:revision>
  <dcterms:created xsi:type="dcterms:W3CDTF">2013-01-27T09:14:16Z</dcterms:created>
  <dcterms:modified xsi:type="dcterms:W3CDTF">2026-10-02T08:09:39Z</dcterms:modified>
  <cp:category/>
</cp:coreProperties>
</file>